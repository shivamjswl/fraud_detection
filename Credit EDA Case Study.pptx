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63"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43" autoAdjust="0"/>
    <p:restoredTop sz="94660"/>
  </p:normalViewPr>
  <p:slideViewPr>
    <p:cSldViewPr snapToGrid="0">
      <p:cViewPr varScale="1">
        <p:scale>
          <a:sx n="110" d="100"/>
          <a:sy n="110" d="100"/>
        </p:scale>
        <p:origin x="57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615B2-6B0F-4F2A-873B-F1590CA85EB6}" type="datetimeFigureOut">
              <a:rPr lang="en-US" smtClean="0"/>
              <a:t>4/25/2023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1CB5E1-7FDB-45FB-8757-B37F87BBFAA3}" type="slidenum">
              <a:rPr lang="en-US" smtClean="0"/>
              <a:t>‹#›</a:t>
            </a:fld>
            <a:endParaRPr lang="en-US"/>
          </a:p>
        </p:txBody>
      </p:sp>
    </p:spTree>
    <p:extLst>
      <p:ext uri="{BB962C8B-B14F-4D97-AF65-F5344CB8AC3E}">
        <p14:creationId xmlns:p14="http://schemas.microsoft.com/office/powerpoint/2010/main" val="207585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093D5BA-6315-45F1-BD40-CC8B9567CCCA}" type="datetimeFigureOut">
              <a:rPr lang="en-US" smtClean="0"/>
              <a:t>4/25/2023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190641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93D5BA-6315-45F1-BD40-CC8B9567CCCA}" type="datetimeFigureOut">
              <a:rPr lang="en-US" smtClean="0"/>
              <a:t>4/25/2023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529246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93D5BA-6315-45F1-BD40-CC8B9567CCCA}" type="datetimeFigureOut">
              <a:rPr lang="en-US" smtClean="0"/>
              <a:t>4/25/2023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392635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93D5BA-6315-45F1-BD40-CC8B9567CCCA}" type="datetimeFigureOut">
              <a:rPr lang="en-US" smtClean="0"/>
              <a:t>4/25/2023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1271293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093D5BA-6315-45F1-BD40-CC8B9567CCCA}" type="datetimeFigureOut">
              <a:rPr lang="en-US" smtClean="0"/>
              <a:t>4/25/2023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400079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93D5BA-6315-45F1-BD40-CC8B9567CCCA}" type="datetimeFigureOut">
              <a:rPr lang="en-US" smtClean="0"/>
              <a:t>4/25/2023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3690983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93D5BA-6315-45F1-BD40-CC8B9567CCCA}" type="datetimeFigureOut">
              <a:rPr lang="en-US" smtClean="0"/>
              <a:t>4/25/2023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1302168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93D5BA-6315-45F1-BD40-CC8B9567CCCA}" type="datetimeFigureOut">
              <a:rPr lang="en-US" smtClean="0"/>
              <a:t>4/25/2023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1833704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093D5BA-6315-45F1-BD40-CC8B9567CCCA}" type="datetimeFigureOut">
              <a:rPr lang="en-US" smtClean="0"/>
              <a:t>4/25/2023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161950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93D5BA-6315-45F1-BD40-CC8B9567CCCA}" type="datetimeFigureOut">
              <a:rPr lang="en-US" smtClean="0"/>
              <a:t>4/25/2023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3662427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93D5BA-6315-45F1-BD40-CC8B9567CCCA}" type="datetimeFigureOut">
              <a:rPr lang="en-US" smtClean="0"/>
              <a:t>4/25/2023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180708-ED73-4A32-A5B8-F1F6F8D7CA4A}" type="slidenum">
              <a:rPr lang="en-US" smtClean="0"/>
              <a:t>‹#›</a:t>
            </a:fld>
            <a:endParaRPr lang="en-US"/>
          </a:p>
        </p:txBody>
      </p:sp>
    </p:spTree>
    <p:extLst>
      <p:ext uri="{BB962C8B-B14F-4D97-AF65-F5344CB8AC3E}">
        <p14:creationId xmlns:p14="http://schemas.microsoft.com/office/powerpoint/2010/main" val="4205105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4" name="Rectangle 8"/>
          <p:cNvSpPr/>
          <p:nvPr/>
        </p:nvSpPr>
        <p:spPr>
          <a:xfrm>
            <a:off x="-29633" y="6140451"/>
            <a:ext cx="11791951" cy="117475"/>
          </a:xfrm>
          <a:prstGeom prst="rect">
            <a:avLst/>
          </a:prstGeom>
          <a:gradFill flip="none" rotWithShape="1">
            <a:gsLst>
              <a:gs pos="0">
                <a:srgbClr val="00925F"/>
              </a:gs>
              <a:gs pos="100000">
                <a:srgbClr val="49B489"/>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latin typeface="方正兰亭纤黑简体" pitchFamily="2" charset="-122"/>
              <a:ea typeface="方正兰亭纤黑简体" pitchFamily="2" charset="-122"/>
            </a:endParaRPr>
          </a:p>
        </p:txBody>
      </p:sp>
      <p:sp>
        <p:nvSpPr>
          <p:cNvPr id="2" name="Title 1"/>
          <p:cNvSpPr>
            <a:spLocks noGrp="1"/>
          </p:cNvSpPr>
          <p:nvPr>
            <p:ph type="ctrTitle"/>
          </p:nvPr>
        </p:nvSpPr>
        <p:spPr>
          <a:xfrm>
            <a:off x="813301" y="2376832"/>
            <a:ext cx="10363200" cy="1509368"/>
          </a:xfrm>
        </p:spPr>
        <p:txBody>
          <a:bodyPr anchor="t">
            <a:normAutofit/>
          </a:bodyPr>
          <a:lstStyle>
            <a:lvl1pPr algn="l">
              <a:defRPr sz="3200" b="0" i="0">
                <a:latin typeface="方正兰亭纤黑简体" pitchFamily="2" charset="-122"/>
                <a:ea typeface="方正兰亭纤黑简体" pitchFamily="2" charset="-122"/>
                <a:cs typeface="方正兰亭纤黑简体" pitchFamily="2"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735668" y="3886200"/>
            <a:ext cx="8534400" cy="1752600"/>
          </a:xfrm>
        </p:spPr>
        <p:txBody>
          <a:bodyPr>
            <a:normAutofit/>
          </a:bodyPr>
          <a:lstStyle>
            <a:lvl1pPr marL="0" indent="0" algn="l">
              <a:buNone/>
              <a:defRPr sz="1200" b="0" i="0">
                <a:solidFill>
                  <a:schemeClr val="tx1"/>
                </a:solidFill>
                <a:latin typeface="方正兰亭纤黑简体" pitchFamily="2" charset="-122"/>
                <a:ea typeface="方正兰亭纤黑简体" pitchFamily="2" charset="-122"/>
                <a:cs typeface="方正兰亭纤黑简体" pitchFamily="2"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extLst>
      <p:ext uri="{BB962C8B-B14F-4D97-AF65-F5344CB8AC3E}">
        <p14:creationId xmlns:p14="http://schemas.microsoft.com/office/powerpoint/2010/main" val="1428106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Divider">
    <p:spTree>
      <p:nvGrpSpPr>
        <p:cNvPr id="1" name=""/>
        <p:cNvGrpSpPr/>
        <p:nvPr/>
      </p:nvGrpSpPr>
      <p:grpSpPr>
        <a:xfrm>
          <a:off x="0" y="0"/>
          <a:ext cx="0" cy="0"/>
          <a:chOff x="0" y="0"/>
          <a:chExt cx="0" cy="0"/>
        </a:xfrm>
      </p:grpSpPr>
      <p:sp>
        <p:nvSpPr>
          <p:cNvPr id="4" name="Rectangle 6"/>
          <p:cNvSpPr/>
          <p:nvPr/>
        </p:nvSpPr>
        <p:spPr>
          <a:xfrm>
            <a:off x="-29633" y="4646614"/>
            <a:ext cx="11791951" cy="115887"/>
          </a:xfrm>
          <a:prstGeom prst="rect">
            <a:avLst/>
          </a:prstGeom>
          <a:gradFill flip="none" rotWithShape="1">
            <a:gsLst>
              <a:gs pos="0">
                <a:srgbClr val="00925F"/>
              </a:gs>
              <a:gs pos="100000">
                <a:srgbClr val="49B489"/>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latin typeface="方正兰亭纤黑简体" pitchFamily="2" charset="-122"/>
              <a:ea typeface="方正兰亭纤黑简体" pitchFamily="2" charset="-122"/>
            </a:endParaRPr>
          </a:p>
        </p:txBody>
      </p:sp>
      <p:sp>
        <p:nvSpPr>
          <p:cNvPr id="3" name="Text Placeholder 2"/>
          <p:cNvSpPr>
            <a:spLocks noGrp="1"/>
          </p:cNvSpPr>
          <p:nvPr>
            <p:ph type="body" idx="1"/>
          </p:nvPr>
        </p:nvSpPr>
        <p:spPr>
          <a:xfrm>
            <a:off x="6627479" y="2719982"/>
            <a:ext cx="4954923" cy="1810161"/>
          </a:xfrm>
        </p:spPr>
        <p:txBody>
          <a:bodyPr anchor="b">
            <a:normAutofit/>
          </a:bodyPr>
          <a:lstStyle>
            <a:lvl1pPr marL="0" marR="0" indent="0" algn="l" defTabSz="457200" rtl="0" eaLnBrk="1" fontAlgn="auto" latinLnBrk="0" hangingPunct="1">
              <a:lnSpc>
                <a:spcPct val="80000"/>
              </a:lnSpc>
              <a:spcBef>
                <a:spcPct val="20000"/>
              </a:spcBef>
              <a:spcAft>
                <a:spcPts val="0"/>
              </a:spcAft>
              <a:buClrTx/>
              <a:buSzTx/>
              <a:buFont typeface="Arial"/>
              <a:buNone/>
              <a:tabLst/>
              <a:defRPr sz="3200" b="0" i="0">
                <a:solidFill>
                  <a:schemeClr val="tx1"/>
                </a:solidFill>
                <a:latin typeface="方正兰亭纤黑简体" pitchFamily="2" charset="-122"/>
                <a:ea typeface="方正兰亭纤黑简体" pitchFamily="2" charset="-122"/>
                <a:cs typeface="方正兰亭纤黑简体" pitchFamily="2"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a:p>
            <a:pPr lvl="1"/>
            <a:r>
              <a:rPr lang="zh-CN" altLang="en-US"/>
              <a:t>第二级</a:t>
            </a:r>
          </a:p>
        </p:txBody>
      </p:sp>
    </p:spTree>
    <p:extLst>
      <p:ext uri="{BB962C8B-B14F-4D97-AF65-F5344CB8AC3E}">
        <p14:creationId xmlns:p14="http://schemas.microsoft.com/office/powerpoint/2010/main" val="478242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3D5BA-6315-45F1-BD40-CC8B9567CCCA}" type="datetimeFigureOut">
              <a:rPr lang="en-US" smtClean="0"/>
              <a:t>4/25/2023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80708-ED73-4A32-A5B8-F1F6F8D7CA4A}" type="slidenum">
              <a:rPr lang="en-US" smtClean="0"/>
              <a:t>‹#›</a:t>
            </a:fld>
            <a:endParaRPr lang="en-US"/>
          </a:p>
        </p:txBody>
      </p:sp>
    </p:spTree>
    <p:extLst>
      <p:ext uri="{BB962C8B-B14F-4D97-AF65-F5344CB8AC3E}">
        <p14:creationId xmlns:p14="http://schemas.microsoft.com/office/powerpoint/2010/main" val="148752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8"/>
          <p:cNvSpPr>
            <a:spLocks noChangeArrowheads="1"/>
          </p:cNvSpPr>
          <p:nvPr/>
        </p:nvSpPr>
        <p:spPr bwMode="auto">
          <a:xfrm>
            <a:off x="1506538" y="6140451"/>
            <a:ext cx="8839201" cy="117475"/>
          </a:xfrm>
          <a:prstGeom prst="rect">
            <a:avLst/>
          </a:prstGeom>
          <a:gradFill rotWithShape="1">
            <a:gsLst>
              <a:gs pos="0">
                <a:srgbClr val="00925F"/>
              </a:gs>
              <a:gs pos="100000">
                <a:srgbClr val="49B489"/>
              </a:gs>
            </a:gsLst>
            <a:lin ang="0" scaled="1"/>
          </a:gradFill>
          <a:ln w="9525">
            <a:noFill/>
            <a:miter lim="800000"/>
          </a:ln>
        </p:spPr>
        <p:txBody>
          <a:bodyPr anchor="ctr"/>
          <a:lstStyle/>
          <a:p>
            <a:endParaRPr lang="zh-CN" altLang="zh-CN">
              <a:solidFill>
                <a:srgbClr val="FFFFFF"/>
              </a:solidFill>
              <a:ea typeface="宋体" panose="02010600030101010101" pitchFamily="2" charset="-122"/>
              <a:sym typeface="Franklin Gothic Book" pitchFamily="34" charset="0"/>
            </a:endParaRPr>
          </a:p>
        </p:txBody>
      </p:sp>
      <p:sp>
        <p:nvSpPr>
          <p:cNvPr id="13318" name="标题 13"/>
          <p:cNvSpPr>
            <a:spLocks noChangeArrowheads="1"/>
          </p:cNvSpPr>
          <p:nvPr/>
        </p:nvSpPr>
        <p:spPr bwMode="auto">
          <a:xfrm>
            <a:off x="2229716" y="979344"/>
            <a:ext cx="7772400" cy="1509713"/>
          </a:xfrm>
          <a:prstGeom prst="rect">
            <a:avLst/>
          </a:prstGeom>
          <a:noFill/>
          <a:ln w="9525">
            <a:noFill/>
            <a:miter lim="800000"/>
          </a:ln>
        </p:spPr>
        <p:txBody>
          <a:bodyPr/>
          <a:lstStyle/>
          <a:p>
            <a:pPr algn="ctr"/>
            <a:r>
              <a:rPr lang="en-US" altLang="zh-CN" sz="4800" dirty="0">
                <a:sym typeface="Myriad Pro" charset="0"/>
              </a:rPr>
              <a:t>CREDIT</a:t>
            </a:r>
            <a:r>
              <a:rPr lang="en-US" altLang="zh-CN" sz="4800" dirty="0">
                <a:latin typeface="Myriad Pro" charset="0"/>
                <a:sym typeface="Myriad Pro" charset="0"/>
              </a:rPr>
              <a:t> EDA Case - Study</a:t>
            </a:r>
            <a:endParaRPr lang="zh-CN" altLang="en-US" sz="4800" dirty="0">
              <a:latin typeface="Myriad Pro" charset="0"/>
              <a:sym typeface="Myriad Pro" charset="0"/>
            </a:endParaRPr>
          </a:p>
        </p:txBody>
      </p:sp>
      <p:sp>
        <p:nvSpPr>
          <p:cNvPr id="2" name="TextBox 1"/>
          <p:cNvSpPr txBox="1"/>
          <p:nvPr/>
        </p:nvSpPr>
        <p:spPr>
          <a:xfrm>
            <a:off x="392558" y="5018809"/>
            <a:ext cx="3674316" cy="830997"/>
          </a:xfrm>
          <a:prstGeom prst="rect">
            <a:avLst/>
          </a:prstGeom>
          <a:noFill/>
        </p:spPr>
        <p:txBody>
          <a:bodyPr wrap="square" rtlCol="0">
            <a:spAutoFit/>
          </a:bodyPr>
          <a:lstStyle/>
          <a:p>
            <a:r>
              <a:rPr lang="en-US" sz="2800" b="1" dirty="0"/>
              <a:t>Prepared by:</a:t>
            </a:r>
          </a:p>
          <a:p>
            <a:r>
              <a:rPr lang="en-US" sz="2000" b="1" dirty="0"/>
              <a:t>Shivam Kumar Jaiswal</a:t>
            </a:r>
          </a:p>
        </p:txBody>
      </p:sp>
    </p:spTree>
    <p:extLst>
      <p:ext uri="{BB962C8B-B14F-4D97-AF65-F5344CB8AC3E}">
        <p14:creationId xmlns:p14="http://schemas.microsoft.com/office/powerpoint/2010/main" val="3743907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20"/>
            <a:ext cx="10363200" cy="4125572"/>
          </a:xfrm>
        </p:spPr>
        <p:txBody>
          <a:bodyPr>
            <a:normAutofit/>
          </a:bodyPr>
          <a:lstStyle/>
          <a:p>
            <a:br>
              <a:rPr lang="en-US" dirty="0">
                <a:latin typeface="+mn-lt"/>
              </a:rPr>
            </a:br>
            <a:r>
              <a:rPr lang="en-US" dirty="0">
                <a:latin typeface="+mn-lt"/>
              </a:rPr>
              <a:t>* Purpose of Case - Study</a:t>
            </a:r>
            <a:br>
              <a:rPr lang="en-US" dirty="0">
                <a:latin typeface="+mn-lt"/>
              </a:rPr>
            </a:br>
            <a:r>
              <a:rPr lang="en-US" dirty="0">
                <a:latin typeface="+mn-lt"/>
              </a:rPr>
              <a:t>* Data Cleaning and Data Manipulation</a:t>
            </a:r>
            <a:br>
              <a:rPr lang="en-US" dirty="0">
                <a:latin typeface="+mn-lt"/>
              </a:rPr>
            </a:br>
            <a:r>
              <a:rPr lang="en-US" dirty="0">
                <a:latin typeface="+mn-lt"/>
              </a:rPr>
              <a:t>* Univariate Analysis</a:t>
            </a:r>
            <a:br>
              <a:rPr lang="en-US" dirty="0">
                <a:latin typeface="+mn-lt"/>
              </a:rPr>
            </a:br>
            <a:r>
              <a:rPr lang="en-US" dirty="0">
                <a:latin typeface="+mn-lt"/>
              </a:rPr>
              <a:t>* Bivariate Analysis</a:t>
            </a:r>
            <a:br>
              <a:rPr lang="en-US" dirty="0">
                <a:latin typeface="+mn-lt"/>
              </a:rPr>
            </a:br>
            <a:r>
              <a:rPr lang="en-US" dirty="0">
                <a:latin typeface="+mn-lt"/>
              </a:rPr>
              <a:t>* Merger Univariate Analysis</a:t>
            </a:r>
            <a:br>
              <a:rPr lang="en-US" dirty="0"/>
            </a:br>
            <a:endParaRPr lang="en-US" dirty="0"/>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2339102"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Contents:</a:t>
            </a:r>
            <a:endParaRPr lang="en-US"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1891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20"/>
            <a:ext cx="10363200" cy="4125572"/>
          </a:xfrm>
        </p:spPr>
        <p:txBody>
          <a:bodyPr>
            <a:noAutofit/>
          </a:bodyPr>
          <a:lstStyle/>
          <a:p>
            <a:pPr algn="just"/>
            <a:br>
              <a:rPr lang="en-US" sz="2800" dirty="0">
                <a:solidFill>
                  <a:srgbClr val="000000"/>
                </a:solidFill>
                <a:latin typeface="Calibri" panose="020F0502020204030204" pitchFamily="34" charset="0"/>
              </a:rPr>
            </a:br>
            <a:r>
              <a:rPr lang="en-US" sz="2400" dirty="0">
                <a:solidFill>
                  <a:srgbClr val="000000"/>
                </a:solidFill>
                <a:latin typeface="Calibri" panose="020F0502020204030204" pitchFamily="34" charset="0"/>
              </a:rPr>
              <a:t>The objective of this case study is to analyze patterns in the loan application data to identify clients who may have difficulty paying their instalments. </a:t>
            </a:r>
            <a:br>
              <a:rPr lang="en-US" sz="2400" dirty="0">
                <a:solidFill>
                  <a:srgbClr val="000000"/>
                </a:solidFill>
                <a:latin typeface="Calibri" panose="020F0502020204030204" pitchFamily="34" charset="0"/>
              </a:rPr>
            </a:br>
            <a:br>
              <a:rPr lang="en-US" sz="2400" dirty="0">
                <a:solidFill>
                  <a:srgbClr val="000000"/>
                </a:solidFill>
                <a:latin typeface="Calibri" panose="020F0502020204030204" pitchFamily="34" charset="0"/>
              </a:rPr>
            </a:br>
            <a:r>
              <a:rPr lang="en-US" sz="2400" dirty="0">
                <a:solidFill>
                  <a:srgbClr val="000000"/>
                </a:solidFill>
                <a:latin typeface="Calibri" panose="020F0502020204030204" pitchFamily="34" charset="0"/>
              </a:rPr>
              <a:t>This analysis will help in making informed decisions such as denying the loan, reducing the loan amount, or offering a higher interest rate to risky applicants. </a:t>
            </a:r>
            <a:br>
              <a:rPr lang="en-US" sz="2400" dirty="0">
                <a:solidFill>
                  <a:srgbClr val="000000"/>
                </a:solidFill>
                <a:latin typeface="Calibri" panose="020F0502020204030204" pitchFamily="34" charset="0"/>
              </a:rPr>
            </a:br>
            <a:br>
              <a:rPr lang="en-US" sz="2400" dirty="0">
                <a:solidFill>
                  <a:srgbClr val="000000"/>
                </a:solidFill>
                <a:latin typeface="Calibri" panose="020F0502020204030204" pitchFamily="34" charset="0"/>
              </a:rPr>
            </a:br>
            <a:r>
              <a:rPr lang="en-US" sz="2400" dirty="0">
                <a:solidFill>
                  <a:srgbClr val="000000"/>
                </a:solidFill>
                <a:latin typeface="Calibri" panose="020F0502020204030204" pitchFamily="34" charset="0"/>
              </a:rPr>
              <a:t>By identifying such applicants through exploratory data analysis (EDA), the loan providers can ensure that applications from clients who can repay their loans are not rejected.</a:t>
            </a:r>
            <a:endParaRPr lang="en-US" sz="2800" dirty="0">
              <a:solidFill>
                <a:srgbClr val="000000"/>
              </a:solidFill>
              <a:latin typeface="Calibri" panose="020F0502020204030204" pitchFamily="34" charset="0"/>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5673348"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Purpose of Case - Study:</a:t>
            </a:r>
            <a:endParaRPr lang="en-US"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859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363200" cy="4820883"/>
          </a:xfrm>
        </p:spPr>
        <p:txBody>
          <a:bodyPr>
            <a:noAutofit/>
          </a:bodyPr>
          <a:lstStyle/>
          <a:p>
            <a:pPr algn="l"/>
            <a:br>
              <a:rPr lang="en-US" sz="2400" b="0" i="0" u="none" strike="noStrike" baseline="0" dirty="0">
                <a:solidFill>
                  <a:srgbClr val="000000"/>
                </a:solidFill>
                <a:latin typeface="Arial" panose="020B060402020202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First, we imported python libraries which are NumPy, pandas, seaborn and  matplotlib.</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After this, we read the given csv into 2 different data frame ‘inp0’ and ‘inp1’ using the pandas “</a:t>
            </a:r>
            <a:r>
              <a:rPr lang="en-US" sz="2000" b="0" i="0" u="none" strike="noStrike" baseline="0" dirty="0" err="1">
                <a:solidFill>
                  <a:srgbClr val="000000"/>
                </a:solidFill>
                <a:latin typeface="Calibri" panose="020F0502020204030204" pitchFamily="34" charset="0"/>
              </a:rPr>
              <a:t>pd.read_csv</a:t>
            </a:r>
            <a:r>
              <a:rPr lang="en-US" sz="2000" b="0" i="0" u="none" strike="noStrike" baseline="0" dirty="0">
                <a:solidFill>
                  <a:srgbClr val="000000"/>
                </a:solidFill>
                <a:latin typeface="Calibri" panose="020F0502020204030204" pitchFamily="34" charset="0"/>
              </a:rPr>
              <a:t>” function.</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Then we found the percentage of null values present in each column of the data.</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We dropped the columns with null value percentage more than 45% and the columns which were irrelevant for our analysis.</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dirty="0">
                <a:solidFill>
                  <a:srgbClr val="D1D5DB"/>
                </a:solidFill>
                <a:effectLst/>
                <a:latin typeface="Söhne"/>
              </a:rPr>
              <a:t> </a:t>
            </a:r>
            <a:r>
              <a:rPr lang="en-US" sz="2000" b="0" i="0" dirty="0">
                <a:solidFill>
                  <a:srgbClr val="000000"/>
                </a:solidFill>
                <a:effectLst/>
                <a:latin typeface="Calibri" panose="020F0502020204030204" pitchFamily="34" charset="0"/>
              </a:rPr>
              <a:t>F</a:t>
            </a:r>
            <a:r>
              <a:rPr lang="en-US" sz="2000" dirty="0">
                <a:solidFill>
                  <a:srgbClr val="000000"/>
                </a:solidFill>
                <a:latin typeface="Calibri" panose="020F0502020204030204" pitchFamily="34" charset="0"/>
              </a:rPr>
              <a:t>or columns with missing values that are less than 45 to 50%, the following strategies were used:</a:t>
            </a:r>
            <a:br>
              <a:rPr lang="en-US" sz="2000" dirty="0">
                <a:solidFill>
                  <a:srgbClr val="000000"/>
                </a:solidFill>
                <a:latin typeface="Calibri" panose="020F0502020204030204" pitchFamily="34" charset="0"/>
              </a:rPr>
            </a:br>
            <a:r>
              <a:rPr lang="en-US" sz="2000" dirty="0">
                <a:solidFill>
                  <a:srgbClr val="000000"/>
                </a:solidFill>
                <a:latin typeface="Calibri" panose="020F0502020204030204" pitchFamily="34" charset="0"/>
              </a:rPr>
              <a:t>	1. For numerical columns with no significant outliers, missing values can be imputed with 	the mean or median of the column. If the data is normally distributed, the mean can be 	used, while the median can be used for skewed data.</a:t>
            </a:r>
            <a:br>
              <a:rPr lang="en-US" sz="2000" dirty="0">
                <a:solidFill>
                  <a:srgbClr val="000000"/>
                </a:solidFill>
                <a:latin typeface="Calibri" panose="020F0502020204030204" pitchFamily="34" charset="0"/>
              </a:rPr>
            </a:br>
            <a:r>
              <a:rPr lang="en-US" sz="2000" dirty="0">
                <a:solidFill>
                  <a:srgbClr val="000000"/>
                </a:solidFill>
                <a:latin typeface="Calibri" panose="020F0502020204030204" pitchFamily="34" charset="0"/>
              </a:rPr>
              <a:t>	2. For numerical columns with significant outliers, the median should be used for 	imputing missing 	values as it is more robust to outliers than the mean.</a:t>
            </a:r>
            <a:br>
              <a:rPr lang="en-US" sz="2000" dirty="0">
                <a:solidFill>
                  <a:srgbClr val="000000"/>
                </a:solidFill>
                <a:latin typeface="Calibri" panose="020F0502020204030204" pitchFamily="34" charset="0"/>
              </a:rPr>
            </a:br>
            <a:r>
              <a:rPr lang="en-US" sz="2000" dirty="0">
                <a:solidFill>
                  <a:srgbClr val="000000"/>
                </a:solidFill>
                <a:latin typeface="Calibri" panose="020F0502020204030204" pitchFamily="34" charset="0"/>
              </a:rPr>
              <a:t>	3. For categorical columns, missing values can be imputed with the mode (most frequent 	value) of the column.</a:t>
            </a:r>
            <a:br>
              <a:rPr lang="en-US" sz="1800" b="0" i="0" u="none" strike="noStrike" baseline="0" dirty="0">
                <a:solidFill>
                  <a:srgbClr val="000000"/>
                </a:solidFill>
                <a:latin typeface="Calibri" panose="020F0502020204030204" pitchFamily="34" charset="0"/>
              </a:rPr>
            </a:br>
            <a:endParaRPr lang="en-US" sz="4000" dirty="0"/>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10418237"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Steps of Data Cleaning and Data Manipulation:</a:t>
            </a:r>
            <a:endParaRPr lang="en-US"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8640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363200" cy="4820883"/>
          </a:xfrm>
        </p:spPr>
        <p:txBody>
          <a:bodyPr>
            <a:noAutofit/>
          </a:bodyPr>
          <a:lstStyle/>
          <a:p>
            <a:r>
              <a:rPr lang="en-US" sz="1800" b="0" i="0" u="none" strike="noStrike" baseline="0" dirty="0">
                <a:solidFill>
                  <a:srgbClr val="000000"/>
                </a:solidFill>
                <a:latin typeface="Arial" panose="020B0604020202020204" pitchFamily="34" charset="0"/>
              </a:rPr>
              <a:t>•</a:t>
            </a:r>
            <a:r>
              <a:rPr lang="en-US" sz="2000" b="0" i="0" dirty="0">
                <a:solidFill>
                  <a:srgbClr val="D1D5DB"/>
                </a:solidFill>
                <a:effectLst/>
                <a:latin typeface="Söhne"/>
              </a:rPr>
              <a:t> </a:t>
            </a:r>
            <a:r>
              <a:rPr lang="en-US" sz="2000" dirty="0">
                <a:solidFill>
                  <a:srgbClr val="000000"/>
                </a:solidFill>
                <a:latin typeface="Calibri" panose="020F0502020204030204" pitchFamily="34" charset="0"/>
              </a:rPr>
              <a:t>We corrected the values in the columns "DAYS_BIRTH", "DAYS_REGISTRATION", and "DAYS_ID_PUBLISH" by converting their negative values to positive values. These columns represent the number of days before the loan application when the client was born, registered, and their ID was published respectively.</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dirty="0">
                <a:solidFill>
                  <a:srgbClr val="000000"/>
                </a:solidFill>
                <a:latin typeface="Calibri" panose="020F0502020204030204" pitchFamily="34" charset="0"/>
              </a:rPr>
              <a:t>To facilitate a better analysis, we converted the values in the columns "AMT_INCOME_TOTAL", "AMT_CREDIT", and "AMT_GOODS_PRICE" from their original units to units of lakhs. This conversion helps to simplify the values and makes it easier to identify patterns and trends in the data.</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1200" b="0" i="0" dirty="0">
                <a:solidFill>
                  <a:srgbClr val="D1D5DB"/>
                </a:solidFill>
                <a:effectLst/>
                <a:latin typeface="Söhne"/>
              </a:rPr>
              <a:t> </a:t>
            </a:r>
            <a:r>
              <a:rPr lang="en-US" sz="2000" dirty="0">
                <a:solidFill>
                  <a:srgbClr val="000000"/>
                </a:solidFill>
                <a:latin typeface="Calibri" panose="020F0502020204030204" pitchFamily="34" charset="0"/>
              </a:rPr>
              <a:t>Additionally, we performed binning on two columns: "AMT_INCOME_TOTAL" and "DAYS_BIRTH". Binning involves grouping values into intervals or ranges and is a common technique used in data analysis to simplify the data and identify patterns. By binning the "AMT_INCOME_TOTAL" column, we can analyze the distribution of income levels and identify any patterns or trends that may exist within specific income ranges. Similarly, by binning the "DAYS_BIRTH" column, we can group clients into age ranges and analyze how age is related to loan repayment. </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Then we checked the imbalance application data frame using target variable.</a:t>
            </a:r>
            <a:br>
              <a:rPr lang="en-US" sz="2000" b="0" i="0" u="none" strike="noStrike" baseline="0" dirty="0">
                <a:solidFill>
                  <a:srgbClr val="000000"/>
                </a:solidFill>
                <a:latin typeface="Calibri" panose="020F0502020204030204" pitchFamily="34" charset="0"/>
              </a:rPr>
            </a:br>
            <a:br>
              <a:rPr lang="en-US" sz="2000" b="0" i="0" u="none" strike="noStrike" baseline="0" dirty="0">
                <a:solidFill>
                  <a:srgbClr val="000000"/>
                </a:solidFill>
                <a:latin typeface="Calibri" panose="020F0502020204030204" pitchFamily="34" charset="0"/>
              </a:rPr>
            </a:br>
            <a:br>
              <a:rPr lang="en-US" sz="2000" b="0" i="0" u="none" strike="noStrike" baseline="0" dirty="0">
                <a:solidFill>
                  <a:srgbClr val="000000"/>
                </a:solidFill>
                <a:latin typeface="Calibri" panose="020F0502020204030204" pitchFamily="34" charset="0"/>
              </a:rPr>
            </a:br>
            <a:br>
              <a:rPr lang="en-US" sz="2000" b="0" i="0" u="none" strike="noStrike" baseline="0" dirty="0">
                <a:solidFill>
                  <a:srgbClr val="000000"/>
                </a:solidFill>
                <a:latin typeface="Calibri" panose="020F0502020204030204" pitchFamily="34" charset="0"/>
              </a:rPr>
            </a:br>
            <a:br>
              <a:rPr lang="en-US" sz="2000" b="0" i="0" u="none" strike="noStrike" baseline="0" dirty="0">
                <a:solidFill>
                  <a:srgbClr val="000000"/>
                </a:solidFill>
                <a:latin typeface="Calibri" panose="020F0502020204030204" pitchFamily="34" charset="0"/>
              </a:rPr>
            </a:br>
            <a:br>
              <a:rPr lang="en-US" sz="2000" b="0" i="0" u="none" strike="noStrike" baseline="0" dirty="0">
                <a:solidFill>
                  <a:srgbClr val="000000"/>
                </a:solidFill>
                <a:latin typeface="Calibri" panose="020F0502020204030204" pitchFamily="34" charset="0"/>
              </a:rPr>
            </a:br>
            <a:br>
              <a:rPr lang="en-US" sz="1800" b="0" i="0" u="none" strike="noStrike" baseline="0" dirty="0">
                <a:solidFill>
                  <a:srgbClr val="000000"/>
                </a:solidFill>
                <a:latin typeface="Calibri" panose="020F0502020204030204" pitchFamily="34" charset="0"/>
              </a:rPr>
            </a:br>
            <a:endParaRPr lang="en-US" sz="4000" dirty="0"/>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95405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1034676" cy="4820883"/>
          </a:xfrm>
        </p:spPr>
        <p:txBody>
          <a:bodyPr>
            <a:noAutofit/>
          </a:bodyPr>
          <a:lstStyle/>
          <a:p>
            <a:pPr algn="l"/>
            <a:r>
              <a:rPr lang="en-US" sz="2400" b="0" i="0" u="none" strike="noStrike" baseline="0" dirty="0">
                <a:solidFill>
                  <a:srgbClr val="000000"/>
                </a:solidFill>
                <a:latin typeface="Arial" panose="020B0604020202020204" pitchFamily="34" charset="0"/>
              </a:rPr>
              <a:t>•</a:t>
            </a:r>
            <a:r>
              <a:rPr lang="en-US" sz="1200" b="0" i="0" dirty="0">
                <a:solidFill>
                  <a:srgbClr val="D1D5DB"/>
                </a:solidFill>
                <a:effectLst/>
                <a:latin typeface="Söhne"/>
              </a:rPr>
              <a:t> </a:t>
            </a:r>
            <a:r>
              <a:rPr lang="en-US" sz="2000" dirty="0">
                <a:solidFill>
                  <a:srgbClr val="000000"/>
                </a:solidFill>
                <a:latin typeface="Calibri" panose="020F0502020204030204" pitchFamily="34" charset="0"/>
              </a:rPr>
              <a:t>Two new data frames were created based on the target value. One data frame (target_0) contained all the rows where the target value was 0, indicating that the loan was not defaulted. The other data frame (target_1) contained all the rows where the target value was 1, indicating that the loan was defaulted. </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1200" b="0" i="0" dirty="0">
                <a:solidFill>
                  <a:srgbClr val="D1D5DB"/>
                </a:solidFill>
                <a:effectLst/>
                <a:latin typeface="Söhne"/>
              </a:rPr>
              <a:t> </a:t>
            </a:r>
            <a:r>
              <a:rPr lang="en-US" sz="2000" dirty="0">
                <a:solidFill>
                  <a:srgbClr val="000000"/>
                </a:solidFill>
                <a:latin typeface="Calibri" panose="020F0502020204030204" pitchFamily="34" charset="0"/>
              </a:rPr>
              <a:t>After creating separate data frames for the two target values (target_0 and target_1), we performed univariate analysis on several columns including "salary range", "</a:t>
            </a:r>
            <a:r>
              <a:rPr lang="en-US" sz="2000" dirty="0" err="1">
                <a:solidFill>
                  <a:srgbClr val="000000"/>
                </a:solidFill>
                <a:latin typeface="Calibri" panose="020F0502020204030204" pitchFamily="34" charset="0"/>
              </a:rPr>
              <a:t>age_group</a:t>
            </a:r>
            <a:r>
              <a:rPr lang="en-US" sz="2000" dirty="0">
                <a:solidFill>
                  <a:srgbClr val="000000"/>
                </a:solidFill>
                <a:latin typeface="Calibri" panose="020F0502020204030204" pitchFamily="34" charset="0"/>
              </a:rPr>
              <a:t>", "FLAG_OWN_CAR", "FLAG_OWN_REALTY", "CNT_CHILDREN", and "NAME_HOUSE_TYPE". </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1200" b="0" i="0" dirty="0">
                <a:solidFill>
                  <a:srgbClr val="D1D5DB"/>
                </a:solidFill>
                <a:effectLst/>
                <a:latin typeface="Söhne"/>
              </a:rPr>
              <a:t> </a:t>
            </a:r>
            <a:r>
              <a:rPr lang="en-US" sz="2000" dirty="0">
                <a:solidFill>
                  <a:srgbClr val="000000"/>
                </a:solidFill>
                <a:latin typeface="Calibri" panose="020F0502020204030204" pitchFamily="34" charset="0"/>
              </a:rPr>
              <a:t>Following this, I conducted bivariate analysis to explore the relationships between the target variable and several other variables of interest. Specifically, examined the associations between the target variable and the following columns: "</a:t>
            </a:r>
            <a:r>
              <a:rPr lang="en-US" sz="2000" dirty="0" err="1">
                <a:solidFill>
                  <a:srgbClr val="000000"/>
                </a:solidFill>
                <a:latin typeface="Calibri" panose="020F0502020204030204" pitchFamily="34" charset="0"/>
              </a:rPr>
              <a:t>age_group</a:t>
            </a:r>
            <a:r>
              <a:rPr lang="en-US" sz="2000" dirty="0">
                <a:solidFill>
                  <a:srgbClr val="000000"/>
                </a:solidFill>
                <a:latin typeface="Calibri" panose="020F0502020204030204" pitchFamily="34" charset="0"/>
              </a:rPr>
              <a:t>", "AMT_INCOME_TOTAL", "AMT_GOODS_PRICE", "CODE_GENDER", "NAME_HOUSING_TYPE", and "FLAG_OWN_CAR". This analysis helped to identify patterns and relationships that may be indicative of a client's ability to repay loans.</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We found correlation for data frames inp0, target_0 and target_1.</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After this, we merged the data frame inp0 and inp1 using </a:t>
            </a:r>
            <a:r>
              <a:rPr lang="en-US" sz="2000" b="0" i="0" u="none" strike="noStrike" baseline="0" dirty="0" err="1">
                <a:solidFill>
                  <a:srgbClr val="000000"/>
                </a:solidFill>
                <a:latin typeface="Calibri" panose="020F0502020204030204" pitchFamily="34" charset="0"/>
              </a:rPr>
              <a:t>pd.merge</a:t>
            </a:r>
            <a:r>
              <a:rPr lang="en-US" sz="2000" b="0" i="0" u="none" strike="noStrike" baseline="0" dirty="0">
                <a:solidFill>
                  <a:srgbClr val="000000"/>
                </a:solidFill>
                <a:latin typeface="Calibri" panose="020F0502020204030204" pitchFamily="34" charset="0"/>
              </a:rPr>
              <a:t>() function. These two data frame was merged into a new data frame which we named merged.</a:t>
            </a:r>
            <a:br>
              <a:rPr lang="en-US" sz="2000" b="0" i="0" u="none" strike="noStrike" baseline="0" dirty="0">
                <a:solidFill>
                  <a:srgbClr val="000000"/>
                </a:solidFill>
                <a:latin typeface="Calibri" panose="020F0502020204030204" pitchFamily="34" charset="0"/>
              </a:rPr>
            </a:br>
            <a:r>
              <a:rPr lang="en-US" sz="2000" b="0" i="0" u="none" strike="noStrike" baseline="0" dirty="0">
                <a:solidFill>
                  <a:srgbClr val="000000"/>
                </a:solidFill>
                <a:latin typeface="Arial" panose="020B0604020202020204" pitchFamily="34" charset="0"/>
              </a:rPr>
              <a:t>•</a:t>
            </a:r>
            <a:r>
              <a:rPr lang="en-US" sz="2000" b="0" i="0" u="none" strike="noStrike" baseline="0" dirty="0">
                <a:solidFill>
                  <a:srgbClr val="000000"/>
                </a:solidFill>
                <a:latin typeface="Calibri" panose="020F0502020204030204" pitchFamily="34" charset="0"/>
              </a:rPr>
              <a:t>Again, data cleaning was applied to this new data frame and then univariate and bivariate analysis was done on this data frame.</a:t>
            </a:r>
            <a:br>
              <a:rPr lang="en-US" sz="2400" b="0" i="0" u="none" strike="noStrike" baseline="0" dirty="0">
                <a:solidFill>
                  <a:srgbClr val="000000"/>
                </a:solidFill>
                <a:latin typeface="Calibri" panose="020F0502020204030204" pitchFamily="34" charset="0"/>
              </a:rPr>
            </a:br>
            <a:endParaRPr lang="en-US" sz="4800" dirty="0"/>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987013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703105"/>
          </a:xfrm>
        </p:spPr>
        <p:txBody>
          <a:bodyPr>
            <a:noAutofit/>
          </a:bodyPr>
          <a:lstStyle/>
          <a:p>
            <a:r>
              <a:rPr lang="en-US" sz="1400" b="1" i="0" dirty="0">
                <a:solidFill>
                  <a:srgbClr val="000000"/>
                </a:solidFill>
                <a:effectLst/>
                <a:latin typeface="+mn-lt"/>
              </a:rPr>
              <a:t>1. </a:t>
            </a:r>
            <a:r>
              <a:rPr lang="en-US" sz="1400" b="1" dirty="0">
                <a:solidFill>
                  <a:srgbClr val="000000"/>
                </a:solidFill>
                <a:latin typeface="+mn-lt"/>
              </a:rPr>
              <a:t>S</a:t>
            </a:r>
            <a:r>
              <a:rPr lang="en-US" sz="1400" b="1" i="0" dirty="0">
                <a:solidFill>
                  <a:srgbClr val="000000"/>
                </a:solidFill>
                <a:effectLst/>
                <a:latin typeface="+mn-lt"/>
              </a:rPr>
              <a:t>ub-plot of count-plot type for variable "</a:t>
            </a:r>
            <a:r>
              <a:rPr lang="en-US" sz="1400" b="1" i="0" dirty="0" err="1">
                <a:solidFill>
                  <a:srgbClr val="000000"/>
                </a:solidFill>
                <a:effectLst/>
                <a:latin typeface="+mn-lt"/>
              </a:rPr>
              <a:t>salary_range</a:t>
            </a:r>
            <a:r>
              <a:rPr lang="en-US" sz="1400" b="1" i="0" dirty="0">
                <a:solidFill>
                  <a:srgbClr val="000000"/>
                </a:solidFill>
                <a:effectLst/>
                <a:latin typeface="+mn-lt"/>
              </a:rPr>
              <a:t>" form data frame target_0 and target_1</a:t>
            </a:r>
            <a:br>
              <a:rPr lang="en-US" sz="1400" b="0" i="0" dirty="0">
                <a:solidFill>
                  <a:srgbClr val="000000"/>
                </a:solidFill>
                <a:effectLst/>
                <a:latin typeface="+mn-lt"/>
              </a:rPr>
            </a:br>
            <a:r>
              <a:rPr lang="en-US" sz="1400" b="1" i="0" dirty="0">
                <a:solidFill>
                  <a:srgbClr val="000000"/>
                </a:solidFill>
                <a:effectLst/>
                <a:latin typeface="+mn-lt"/>
              </a:rPr>
              <a:t>Findings:</a:t>
            </a:r>
            <a:r>
              <a:rPr lang="en-US" sz="1400" b="0" i="0" dirty="0">
                <a:solidFill>
                  <a:srgbClr val="000000"/>
                </a:solidFill>
                <a:effectLst/>
                <a:latin typeface="+mn-lt"/>
              </a:rPr>
              <a:t> Based on the given plot, we can observe that many clients who have defaulted on their loans fall in the salary range of less than 2 lakhs. Conversely, there are very few clients who have defaulted in the salary range of above 10 lakhs. This suggests that clients with lower salaries are more likely to default on their loans compared to those with higher salaries.</a:t>
            </a:r>
            <a:br>
              <a:rPr lang="en-US" sz="1800" b="0" i="0" u="none" strike="noStrike" baseline="0" dirty="0">
                <a:solidFill>
                  <a:srgbClr val="000000"/>
                </a:solidFill>
                <a:latin typeface="Calibri" panose="020F0502020204030204" pitchFamily="34" charset="0"/>
              </a:rPr>
            </a:br>
            <a:endParaRPr lang="en-US" sz="4000" dirty="0"/>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323078"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Univariate Analysis Graphs:</a:t>
            </a:r>
            <a:endParaRPr lang="en-US"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0EC1E4B-496A-BB15-5B09-EA86A101C7C1}"/>
              </a:ext>
            </a:extLst>
          </p:cNvPr>
          <p:cNvPicPr>
            <a:picLocks noChangeAspect="1"/>
          </p:cNvPicPr>
          <p:nvPr/>
        </p:nvPicPr>
        <p:blipFill>
          <a:blip r:embed="rId2"/>
          <a:stretch>
            <a:fillRect/>
          </a:stretch>
        </p:blipFill>
        <p:spPr>
          <a:xfrm>
            <a:off x="2142309" y="1950720"/>
            <a:ext cx="7059793" cy="4082185"/>
          </a:xfrm>
          <a:prstGeom prst="rect">
            <a:avLst/>
          </a:prstGeom>
        </p:spPr>
      </p:pic>
    </p:spTree>
    <p:extLst>
      <p:ext uri="{BB962C8B-B14F-4D97-AF65-F5344CB8AC3E}">
        <p14:creationId xmlns:p14="http://schemas.microsoft.com/office/powerpoint/2010/main" val="574305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884610"/>
          </a:xfrm>
        </p:spPr>
        <p:txBody>
          <a:bodyPr>
            <a:noAutofit/>
          </a:bodyPr>
          <a:lstStyle/>
          <a:p>
            <a:r>
              <a:rPr lang="en-US" sz="1400" b="1" i="0" dirty="0">
                <a:solidFill>
                  <a:srgbClr val="000000"/>
                </a:solidFill>
                <a:effectLst/>
                <a:latin typeface="+mn-lt"/>
              </a:rPr>
              <a:t>2. Sub-plot of count-plot type for variable "</a:t>
            </a:r>
            <a:r>
              <a:rPr lang="en-US" sz="1400" b="1" i="0" dirty="0" err="1">
                <a:solidFill>
                  <a:srgbClr val="000000"/>
                </a:solidFill>
                <a:effectLst/>
                <a:latin typeface="+mn-lt"/>
              </a:rPr>
              <a:t>age_group</a:t>
            </a:r>
            <a:r>
              <a:rPr lang="en-US" sz="1400" b="1" i="0" dirty="0">
                <a:solidFill>
                  <a:srgbClr val="000000"/>
                </a:solidFill>
                <a:effectLst/>
                <a:latin typeface="+mn-lt"/>
              </a:rPr>
              <a:t>" form data frame target_0 and target_1.</a:t>
            </a:r>
            <a:br>
              <a:rPr lang="en-US" sz="1400" b="0" i="0" dirty="0">
                <a:solidFill>
                  <a:srgbClr val="000000"/>
                </a:solidFill>
                <a:effectLst/>
                <a:latin typeface="+mn-lt"/>
              </a:rPr>
            </a:br>
            <a:r>
              <a:rPr lang="en-US" sz="1400" b="1" i="0" dirty="0">
                <a:solidFill>
                  <a:srgbClr val="000000"/>
                </a:solidFill>
                <a:effectLst/>
                <a:latin typeface="+mn-lt"/>
              </a:rPr>
              <a:t>Findings : </a:t>
            </a:r>
            <a:r>
              <a:rPr lang="en-US" sz="1400" b="0" i="0" dirty="0">
                <a:solidFill>
                  <a:srgbClr val="000000"/>
                </a:solidFill>
                <a:effectLst/>
                <a:latin typeface="+mn-lt"/>
              </a:rPr>
              <a:t>Based on the given plot, we can observe that there is a relatively higher number of clients who have defaulted on their loans in the age group of 30 to 40. On the other hand, there are very few clients who have defaulted in the age group of above 60. This indicates that clients who are in the age range of 30 to 40 are more likely to default on their loans compared to those who are above 60 years old</a:t>
            </a:r>
            <a:r>
              <a:rPr lang="en-US" sz="1400" b="0" i="0" dirty="0">
                <a:solidFill>
                  <a:srgbClr val="000000"/>
                </a:solidFill>
                <a:effectLst/>
                <a:latin typeface="Helvetica Neue"/>
              </a:rPr>
              <a:t>.</a:t>
            </a:r>
            <a:br>
              <a:rPr lang="en-US" sz="1800" b="0" i="0" u="none" strike="noStrike" baseline="0" dirty="0">
                <a:solidFill>
                  <a:srgbClr val="000000"/>
                </a:solidFill>
                <a:latin typeface="Calibri" panose="020F0502020204030204" pitchFamily="34" charset="0"/>
              </a:rPr>
            </a:br>
            <a:endParaRPr lang="en-US" sz="4000" dirty="0"/>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323078"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Univariate Analysis Graphs:</a:t>
            </a:r>
            <a:endParaRPr lang="en-US" sz="3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53328D6-1A95-521C-416A-1D5AA667FFD4}"/>
              </a:ext>
            </a:extLst>
          </p:cNvPr>
          <p:cNvPicPr>
            <a:picLocks noChangeAspect="1"/>
          </p:cNvPicPr>
          <p:nvPr/>
        </p:nvPicPr>
        <p:blipFill>
          <a:blip r:embed="rId2"/>
          <a:stretch>
            <a:fillRect/>
          </a:stretch>
        </p:blipFill>
        <p:spPr>
          <a:xfrm>
            <a:off x="2279519" y="2046513"/>
            <a:ext cx="7215868" cy="4061323"/>
          </a:xfrm>
          <a:prstGeom prst="rect">
            <a:avLst/>
          </a:prstGeom>
        </p:spPr>
      </p:pic>
    </p:spTree>
    <p:extLst>
      <p:ext uri="{BB962C8B-B14F-4D97-AF65-F5344CB8AC3E}">
        <p14:creationId xmlns:p14="http://schemas.microsoft.com/office/powerpoint/2010/main" val="521769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884610"/>
          </a:xfrm>
        </p:spPr>
        <p:txBody>
          <a:bodyPr>
            <a:noAutofit/>
          </a:bodyPr>
          <a:lstStyle/>
          <a:p>
            <a:r>
              <a:rPr lang="en-US" sz="1400" b="1" i="0" dirty="0">
                <a:solidFill>
                  <a:srgbClr val="000000"/>
                </a:solidFill>
                <a:effectLst/>
                <a:latin typeface="+mn-lt"/>
              </a:rPr>
              <a:t>3. </a:t>
            </a:r>
            <a:r>
              <a:rPr lang="en-US" sz="1400" b="1" dirty="0">
                <a:solidFill>
                  <a:srgbClr val="000000"/>
                </a:solidFill>
                <a:latin typeface="+mn-lt"/>
              </a:rPr>
              <a:t>S</a:t>
            </a:r>
            <a:r>
              <a:rPr lang="en-US" sz="1400" b="1" i="0" dirty="0">
                <a:solidFill>
                  <a:srgbClr val="000000"/>
                </a:solidFill>
                <a:effectLst/>
                <a:latin typeface="+mn-lt"/>
              </a:rPr>
              <a:t>ub-plot of count-plot type for variable "FLAG_OWN_CAR" form data frame target_0 and target_1.</a:t>
            </a:r>
            <a:br>
              <a:rPr lang="en-US" sz="1400" b="1" i="0" dirty="0">
                <a:solidFill>
                  <a:srgbClr val="000000"/>
                </a:solidFill>
                <a:effectLst/>
                <a:latin typeface="+mn-lt"/>
              </a:rPr>
            </a:br>
            <a:r>
              <a:rPr lang="en-US" sz="1400" b="1" i="0" dirty="0">
                <a:solidFill>
                  <a:srgbClr val="000000"/>
                </a:solidFill>
                <a:effectLst/>
                <a:latin typeface="+mn-lt"/>
              </a:rPr>
              <a:t>4. </a:t>
            </a:r>
            <a:r>
              <a:rPr lang="en-US" sz="1400" b="1" dirty="0">
                <a:solidFill>
                  <a:srgbClr val="000000"/>
                </a:solidFill>
                <a:latin typeface="+mn-lt"/>
              </a:rPr>
              <a:t>S</a:t>
            </a:r>
            <a:r>
              <a:rPr lang="en-US" sz="1400" b="1" i="0" dirty="0">
                <a:solidFill>
                  <a:srgbClr val="000000"/>
                </a:solidFill>
                <a:effectLst/>
                <a:latin typeface="+mn-lt"/>
              </a:rPr>
              <a:t>ub-plot of count-plot type for variable "FLAG_OWN_REALTY" form data frame target_0 and target_1.</a:t>
            </a:r>
            <a:br>
              <a:rPr lang="en-US" sz="1400" b="0" i="0" dirty="0">
                <a:solidFill>
                  <a:srgbClr val="000000"/>
                </a:solidFill>
                <a:effectLst/>
                <a:latin typeface="+mn-lt"/>
              </a:rPr>
            </a:br>
            <a:r>
              <a:rPr lang="en-US" sz="1400" b="1" i="0" dirty="0">
                <a:solidFill>
                  <a:srgbClr val="000000"/>
                </a:solidFill>
                <a:effectLst/>
                <a:latin typeface="+mn-lt"/>
              </a:rPr>
              <a:t>Findings: </a:t>
            </a:r>
            <a:r>
              <a:rPr lang="en-US" sz="1400" b="0" i="0" dirty="0">
                <a:solidFill>
                  <a:srgbClr val="000000"/>
                </a:solidFill>
                <a:effectLst/>
                <a:latin typeface="+mn-lt"/>
              </a:rPr>
              <a:t>Based on the given plot, it is evident that a significant number of clients who have defaulted on their loans do not own a car. This suggests that clients who do not own a car are more likely to default on their loans compared to those who do own a car.</a:t>
            </a:r>
            <a:br>
              <a:rPr lang="en-US" sz="1400" b="0" i="0" dirty="0">
                <a:solidFill>
                  <a:srgbClr val="000000"/>
                </a:solidFill>
                <a:effectLst/>
                <a:latin typeface="+mn-lt"/>
              </a:rPr>
            </a:br>
            <a:r>
              <a:rPr lang="en-US" sz="1400" b="0" i="0" dirty="0">
                <a:solidFill>
                  <a:srgbClr val="000000"/>
                </a:solidFill>
                <a:effectLst/>
                <a:latin typeface="+mn-lt"/>
              </a:rPr>
              <a:t>Also, we can say that there are high number of DEFAULTER clients who owns a house.</a:t>
            </a:r>
            <a:br>
              <a:rPr lang="en-US" sz="1400" b="0" i="0" u="none" strike="noStrike" baseline="0" dirty="0">
                <a:solidFill>
                  <a:srgbClr val="000000"/>
                </a:solidFill>
                <a:latin typeface="+mn-lt"/>
              </a:rPr>
            </a:br>
            <a:endParaRPr lang="en-US" sz="1400" dirty="0">
              <a:latin typeface="+mn-lt"/>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323078"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Univariate Analysis Graphs:</a:t>
            </a:r>
            <a:endParaRPr lang="en-US"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DFBB159-4266-B36A-44EE-2D8FCE562E4B}"/>
              </a:ext>
            </a:extLst>
          </p:cNvPr>
          <p:cNvPicPr>
            <a:picLocks noChangeAspect="1"/>
          </p:cNvPicPr>
          <p:nvPr/>
        </p:nvPicPr>
        <p:blipFill>
          <a:blip r:embed="rId2"/>
          <a:stretch>
            <a:fillRect/>
          </a:stretch>
        </p:blipFill>
        <p:spPr>
          <a:xfrm>
            <a:off x="417095" y="2372734"/>
            <a:ext cx="5145577" cy="3125503"/>
          </a:xfrm>
          <a:prstGeom prst="rect">
            <a:avLst/>
          </a:prstGeom>
        </p:spPr>
      </p:pic>
      <p:pic>
        <p:nvPicPr>
          <p:cNvPr id="9" name="Picture 8">
            <a:extLst>
              <a:ext uri="{FF2B5EF4-FFF2-40B4-BE49-F238E27FC236}">
                <a16:creationId xmlns:a16="http://schemas.microsoft.com/office/drawing/2014/main" id="{A064CA90-16B5-DFB0-BA94-F67ADA022153}"/>
              </a:ext>
            </a:extLst>
          </p:cNvPr>
          <p:cNvPicPr>
            <a:picLocks noChangeAspect="1"/>
          </p:cNvPicPr>
          <p:nvPr/>
        </p:nvPicPr>
        <p:blipFill>
          <a:blip r:embed="rId3"/>
          <a:stretch>
            <a:fillRect/>
          </a:stretch>
        </p:blipFill>
        <p:spPr>
          <a:xfrm>
            <a:off x="5887453" y="2372734"/>
            <a:ext cx="5215209" cy="3106573"/>
          </a:xfrm>
          <a:prstGeom prst="rect">
            <a:avLst/>
          </a:prstGeom>
        </p:spPr>
      </p:pic>
    </p:spTree>
    <p:extLst>
      <p:ext uri="{BB962C8B-B14F-4D97-AF65-F5344CB8AC3E}">
        <p14:creationId xmlns:p14="http://schemas.microsoft.com/office/powerpoint/2010/main" val="309160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1138533"/>
          </a:xfrm>
        </p:spPr>
        <p:txBody>
          <a:bodyPr>
            <a:noAutofit/>
          </a:bodyPr>
          <a:lstStyle/>
          <a:p>
            <a:r>
              <a:rPr lang="en-US" sz="1400" b="1" i="0" dirty="0">
                <a:solidFill>
                  <a:srgbClr val="000000"/>
                </a:solidFill>
                <a:effectLst/>
                <a:latin typeface="+mn-lt"/>
              </a:rPr>
              <a:t>5. sub-plot of count-plot type for variable "CNT_CHILDREN" and “NAME_HOUSING_TYPE” form data frame target_0 and target_1.</a:t>
            </a:r>
            <a:br>
              <a:rPr lang="en-US" sz="1400" b="1" i="0" dirty="0">
                <a:solidFill>
                  <a:srgbClr val="000000"/>
                </a:solidFill>
                <a:effectLst/>
                <a:latin typeface="+mn-lt"/>
              </a:rPr>
            </a:br>
            <a:r>
              <a:rPr lang="en-US" sz="1400" b="1" i="0" dirty="0">
                <a:solidFill>
                  <a:srgbClr val="000000"/>
                </a:solidFill>
                <a:effectLst/>
                <a:latin typeface="+mn-lt"/>
              </a:rPr>
              <a:t>Findings: </a:t>
            </a:r>
            <a:r>
              <a:rPr lang="en-US" sz="1400" b="0" i="0" dirty="0">
                <a:solidFill>
                  <a:srgbClr val="000000"/>
                </a:solidFill>
                <a:effectLst/>
                <a:latin typeface="+mn-lt"/>
              </a:rPr>
              <a:t>Based on the given plot, we can conclude that a considerable number of clients who have defaulted on their loans do not have any children. This suggests that clients without children are more likely to default on their loans compared to those who have children.</a:t>
            </a:r>
            <a:br>
              <a:rPr lang="en-US" sz="1400" b="0" i="0" dirty="0">
                <a:solidFill>
                  <a:srgbClr val="000000"/>
                </a:solidFill>
                <a:effectLst/>
                <a:latin typeface="+mn-lt"/>
              </a:rPr>
            </a:br>
            <a:r>
              <a:rPr lang="en-US" sz="1400" b="0" i="0" dirty="0">
                <a:solidFill>
                  <a:srgbClr val="000000"/>
                </a:solidFill>
                <a:effectLst/>
                <a:latin typeface="+mn-lt"/>
              </a:rPr>
              <a:t>Also, we can infer that a substantial number of clients who have defaulted on their loans live in their own house or apartment. This suggests that clients who own their own house or apartment are more likely to default on their loans compared to those who live in rented accommodations.</a:t>
            </a:r>
            <a:endParaRPr lang="en-US" sz="4000" dirty="0">
              <a:latin typeface="+mn-lt"/>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323078"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Univariate Analysis Graphs:</a:t>
            </a:r>
            <a:endParaRPr lang="en-US"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22C70A9-262A-C42A-1F98-4F949B4DA241}"/>
              </a:ext>
            </a:extLst>
          </p:cNvPr>
          <p:cNvPicPr>
            <a:picLocks noChangeAspect="1"/>
          </p:cNvPicPr>
          <p:nvPr/>
        </p:nvPicPr>
        <p:blipFill>
          <a:blip r:embed="rId2"/>
          <a:stretch>
            <a:fillRect/>
          </a:stretch>
        </p:blipFill>
        <p:spPr>
          <a:xfrm>
            <a:off x="539015" y="2473233"/>
            <a:ext cx="5095431" cy="3309947"/>
          </a:xfrm>
          <a:prstGeom prst="rect">
            <a:avLst/>
          </a:prstGeom>
        </p:spPr>
      </p:pic>
      <p:pic>
        <p:nvPicPr>
          <p:cNvPr id="9" name="Picture 8">
            <a:extLst>
              <a:ext uri="{FF2B5EF4-FFF2-40B4-BE49-F238E27FC236}">
                <a16:creationId xmlns:a16="http://schemas.microsoft.com/office/drawing/2014/main" id="{5BE35372-34DB-96CF-7E53-02A844FB9003}"/>
              </a:ext>
            </a:extLst>
          </p:cNvPr>
          <p:cNvPicPr>
            <a:picLocks noChangeAspect="1"/>
          </p:cNvPicPr>
          <p:nvPr/>
        </p:nvPicPr>
        <p:blipFill>
          <a:blip r:embed="rId3"/>
          <a:stretch>
            <a:fillRect/>
          </a:stretch>
        </p:blipFill>
        <p:spPr>
          <a:xfrm>
            <a:off x="5634446" y="2306174"/>
            <a:ext cx="6062082" cy="3460964"/>
          </a:xfrm>
          <a:prstGeom prst="rect">
            <a:avLst/>
          </a:prstGeom>
        </p:spPr>
      </p:pic>
    </p:spTree>
    <p:extLst>
      <p:ext uri="{BB962C8B-B14F-4D97-AF65-F5344CB8AC3E}">
        <p14:creationId xmlns:p14="http://schemas.microsoft.com/office/powerpoint/2010/main" val="3511533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892861"/>
          </a:xfrm>
        </p:spPr>
        <p:txBody>
          <a:bodyPr>
            <a:noAutofit/>
          </a:bodyPr>
          <a:lstStyle/>
          <a:p>
            <a:r>
              <a:rPr lang="en-US" sz="1400" b="1" i="0" dirty="0">
                <a:solidFill>
                  <a:srgbClr val="000000"/>
                </a:solidFill>
                <a:effectLst/>
                <a:latin typeface="+mn-lt"/>
              </a:rPr>
              <a:t>1. Analysis on </a:t>
            </a:r>
            <a:r>
              <a:rPr lang="en-US" sz="1400" b="1" dirty="0">
                <a:solidFill>
                  <a:srgbClr val="000000"/>
                </a:solidFill>
                <a:latin typeface="+mn-lt"/>
              </a:rPr>
              <a:t>'</a:t>
            </a:r>
            <a:r>
              <a:rPr lang="en-US" sz="1400" b="1" dirty="0" err="1">
                <a:solidFill>
                  <a:srgbClr val="000000"/>
                </a:solidFill>
                <a:latin typeface="+mn-lt"/>
              </a:rPr>
              <a:t>age_group</a:t>
            </a:r>
            <a:r>
              <a:rPr lang="en-US" sz="1400" b="1" dirty="0">
                <a:solidFill>
                  <a:srgbClr val="000000"/>
                </a:solidFill>
                <a:latin typeface="+mn-lt"/>
              </a:rPr>
              <a:t>' column and 'AMT_INCOME_TOTAL' column using data frame target_0 and target_1</a:t>
            </a:r>
            <a:r>
              <a:rPr lang="en-US" sz="1400" dirty="0">
                <a:solidFill>
                  <a:srgbClr val="000000"/>
                </a:solidFill>
                <a:latin typeface="+mn-lt"/>
              </a:rPr>
              <a:t>.</a:t>
            </a:r>
            <a:br>
              <a:rPr lang="en-US" sz="1400" dirty="0">
                <a:solidFill>
                  <a:srgbClr val="000000"/>
                </a:solidFill>
                <a:latin typeface="+mn-lt"/>
              </a:rPr>
            </a:br>
            <a:r>
              <a:rPr lang="en-US" sz="1400" b="1" dirty="0">
                <a:solidFill>
                  <a:srgbClr val="000000"/>
                </a:solidFill>
                <a:latin typeface="+mn-lt"/>
              </a:rPr>
              <a:t>Findings:</a:t>
            </a:r>
            <a:r>
              <a:rPr lang="en-US" sz="1400" dirty="0">
                <a:solidFill>
                  <a:srgbClr val="000000"/>
                </a:solidFill>
                <a:latin typeface="+mn-lt"/>
              </a:rPr>
              <a:t> </a:t>
            </a:r>
            <a:r>
              <a:rPr lang="en-US" sz="1400" b="0" i="0" dirty="0">
                <a:solidFill>
                  <a:srgbClr val="000000"/>
                </a:solidFill>
                <a:effectLst/>
                <a:latin typeface="+mn-lt"/>
              </a:rPr>
              <a:t>Based on the given plot, we can observe that clients who have defaulted on their loans in the age group of 30-40 generally have higher incomes compared to clients in other age groups. On the other hand, clients who have defaulted in the age group less than 30 have lower incomes compared to the other age groups.</a:t>
            </a:r>
            <a:br>
              <a:rPr lang="en-US" sz="1400" b="0" i="0" dirty="0">
                <a:solidFill>
                  <a:srgbClr val="000000"/>
                </a:solidFill>
                <a:effectLst/>
                <a:latin typeface="+mn-lt"/>
              </a:rPr>
            </a:br>
            <a:r>
              <a:rPr lang="en-US" sz="1400" b="0" i="0" dirty="0">
                <a:solidFill>
                  <a:srgbClr val="000000"/>
                </a:solidFill>
                <a:effectLst/>
                <a:latin typeface="+mn-lt"/>
              </a:rPr>
              <a:t>Given this information, it is less likely that clients in the age group less than 30 would be able to pay off their debt.</a:t>
            </a:r>
            <a:endParaRPr lang="en-US" sz="4000" dirty="0">
              <a:latin typeface="+mn-lt"/>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040949"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Bivariate Analysis Graphs:</a:t>
            </a:r>
            <a:endParaRPr lang="en-US" sz="3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9D1EBDE-4B1D-E601-CCF7-29DCCB5B5A25}"/>
              </a:ext>
            </a:extLst>
          </p:cNvPr>
          <p:cNvPicPr>
            <a:picLocks noChangeAspect="1"/>
          </p:cNvPicPr>
          <p:nvPr/>
        </p:nvPicPr>
        <p:blipFill>
          <a:blip r:embed="rId2"/>
          <a:stretch>
            <a:fillRect/>
          </a:stretch>
        </p:blipFill>
        <p:spPr>
          <a:xfrm>
            <a:off x="2029097" y="2168434"/>
            <a:ext cx="7596731" cy="3740060"/>
          </a:xfrm>
          <a:prstGeom prst="rect">
            <a:avLst/>
          </a:prstGeom>
        </p:spPr>
      </p:pic>
    </p:spTree>
    <p:extLst>
      <p:ext uri="{BB962C8B-B14F-4D97-AF65-F5344CB8AC3E}">
        <p14:creationId xmlns:p14="http://schemas.microsoft.com/office/powerpoint/2010/main" val="548895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977196"/>
          </a:xfrm>
        </p:spPr>
        <p:txBody>
          <a:bodyPr>
            <a:noAutofit/>
          </a:bodyPr>
          <a:lstStyle/>
          <a:p>
            <a:pPr algn="l"/>
            <a:r>
              <a:rPr lang="en-US" sz="1400" b="1" dirty="0">
                <a:solidFill>
                  <a:srgbClr val="000000"/>
                </a:solidFill>
                <a:latin typeface="+mn-lt"/>
              </a:rPr>
              <a:t>2</a:t>
            </a:r>
            <a:r>
              <a:rPr lang="en-US" sz="1400" b="1" i="0" dirty="0">
                <a:solidFill>
                  <a:srgbClr val="000000"/>
                </a:solidFill>
                <a:effectLst/>
                <a:latin typeface="+mn-lt"/>
              </a:rPr>
              <a:t>.</a:t>
            </a:r>
            <a:r>
              <a:rPr lang="en-US" sz="1400" b="0" i="0" dirty="0">
                <a:solidFill>
                  <a:srgbClr val="000000"/>
                </a:solidFill>
                <a:effectLst/>
                <a:latin typeface="+mn-lt"/>
              </a:rPr>
              <a:t> </a:t>
            </a:r>
            <a:r>
              <a:rPr lang="en-US" sz="1400" b="1" i="0" dirty="0">
                <a:solidFill>
                  <a:srgbClr val="000000"/>
                </a:solidFill>
                <a:effectLst/>
                <a:latin typeface="+mn-lt"/>
              </a:rPr>
              <a:t>Analysis on ‘CODE_GENDER’</a:t>
            </a:r>
            <a:r>
              <a:rPr lang="en-US" sz="1400" b="1" dirty="0">
                <a:solidFill>
                  <a:srgbClr val="000000"/>
                </a:solidFill>
                <a:latin typeface="+mn-lt"/>
              </a:rPr>
              <a:t> column and ‘AMT_GOODS_PRICE’ column using data frame target_0 and target_1</a:t>
            </a:r>
            <a:r>
              <a:rPr lang="en-US" sz="1400" dirty="0">
                <a:solidFill>
                  <a:srgbClr val="000000"/>
                </a:solidFill>
                <a:latin typeface="+mn-lt"/>
              </a:rPr>
              <a:t>.</a:t>
            </a:r>
            <a:br>
              <a:rPr lang="en-US" sz="1400" b="0" i="0" dirty="0">
                <a:solidFill>
                  <a:srgbClr val="000000"/>
                </a:solidFill>
                <a:effectLst/>
                <a:latin typeface="+mn-lt"/>
              </a:rPr>
            </a:br>
            <a:r>
              <a:rPr lang="en-US" sz="1400" b="1" i="0" dirty="0">
                <a:solidFill>
                  <a:srgbClr val="000000"/>
                </a:solidFill>
                <a:effectLst/>
                <a:latin typeface="+mn-lt"/>
              </a:rPr>
              <a:t>Findings:</a:t>
            </a:r>
            <a:r>
              <a:rPr lang="en-US" sz="1400" b="0" i="0" dirty="0">
                <a:solidFill>
                  <a:srgbClr val="000000"/>
                </a:solidFill>
                <a:effectLst/>
                <a:latin typeface="+mn-lt"/>
              </a:rPr>
              <a:t> Based on the given plot, we can observe that male clients who have defaulted on their loans generally have a lower AMT_GOODS_PRICE value, with the majority falling below 22.5 lakhs. Conversely, female clients who have defaulted on their loans generally have a slightly higher AMT_GOODS_PRICE value, with the majority falling below 25 lakhs.</a:t>
            </a: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040949"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Bivariate Analysis Graphs:</a:t>
            </a:r>
            <a:endParaRPr lang="en-US"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F8F849E-8D9C-8B30-526F-A40BC4AC078F}"/>
              </a:ext>
            </a:extLst>
          </p:cNvPr>
          <p:cNvPicPr>
            <a:picLocks noChangeAspect="1"/>
          </p:cNvPicPr>
          <p:nvPr/>
        </p:nvPicPr>
        <p:blipFill>
          <a:blip r:embed="rId2"/>
          <a:stretch>
            <a:fillRect/>
          </a:stretch>
        </p:blipFill>
        <p:spPr>
          <a:xfrm>
            <a:off x="2254499" y="2116183"/>
            <a:ext cx="7683001" cy="3868472"/>
          </a:xfrm>
          <a:prstGeom prst="rect">
            <a:avLst/>
          </a:prstGeom>
        </p:spPr>
      </p:pic>
    </p:spTree>
    <p:extLst>
      <p:ext uri="{BB962C8B-B14F-4D97-AF65-F5344CB8AC3E}">
        <p14:creationId xmlns:p14="http://schemas.microsoft.com/office/powerpoint/2010/main" val="3372471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492724"/>
          </a:xfrm>
        </p:spPr>
        <p:txBody>
          <a:bodyPr>
            <a:noAutofit/>
          </a:bodyPr>
          <a:lstStyle/>
          <a:p>
            <a:r>
              <a:rPr lang="en-US" sz="1400" b="1" i="0" dirty="0">
                <a:solidFill>
                  <a:srgbClr val="000000"/>
                </a:solidFill>
                <a:effectLst/>
                <a:latin typeface="+mn-lt"/>
              </a:rPr>
              <a:t>3.</a:t>
            </a:r>
            <a:r>
              <a:rPr lang="en-US" sz="1400" b="0" i="0" dirty="0">
                <a:solidFill>
                  <a:srgbClr val="000000"/>
                </a:solidFill>
                <a:effectLst/>
                <a:latin typeface="+mn-lt"/>
              </a:rPr>
              <a:t> </a:t>
            </a:r>
            <a:r>
              <a:rPr lang="en-US" sz="1400" b="1" dirty="0">
                <a:solidFill>
                  <a:srgbClr val="000000"/>
                </a:solidFill>
                <a:latin typeface="+mn-lt"/>
              </a:rPr>
              <a:t>A</a:t>
            </a:r>
            <a:r>
              <a:rPr lang="en-US" sz="1400" b="1" i="0" dirty="0">
                <a:solidFill>
                  <a:srgbClr val="000000"/>
                </a:solidFill>
                <a:effectLst/>
                <a:latin typeface="+mn-lt"/>
              </a:rPr>
              <a:t>nalysis on 'NAME_HOUSING_TYPE' column and 'CODE_GENDER' column using data frame target_0 and target_1.</a:t>
            </a:r>
            <a:br>
              <a:rPr lang="en-US" sz="1400" b="1" i="0" dirty="0">
                <a:solidFill>
                  <a:srgbClr val="000000"/>
                </a:solidFill>
                <a:effectLst/>
                <a:latin typeface="+mn-lt"/>
              </a:rPr>
            </a:br>
            <a:r>
              <a:rPr lang="en-US" sz="1400" b="1" i="0" dirty="0">
                <a:solidFill>
                  <a:srgbClr val="000000"/>
                </a:solidFill>
                <a:effectLst/>
                <a:latin typeface="+mn-lt"/>
              </a:rPr>
              <a:t>Findings: </a:t>
            </a:r>
            <a:r>
              <a:rPr lang="en-US" sz="1400" b="0" i="0" dirty="0">
                <a:solidFill>
                  <a:srgbClr val="000000"/>
                </a:solidFill>
                <a:effectLst/>
                <a:latin typeface="+mn-lt"/>
              </a:rPr>
              <a:t>Based on the given plot, we can observe that </a:t>
            </a:r>
            <a:r>
              <a:rPr lang="en-US" sz="1400" dirty="0">
                <a:solidFill>
                  <a:srgbClr val="000000"/>
                </a:solidFill>
                <a:latin typeface="+mn-lt"/>
              </a:rPr>
              <a:t>females who owns a house or apartment are more likely to be a defaulter, but the other factors seems to be normal for both the genders.</a:t>
            </a:r>
            <a:endParaRPr lang="en-US" sz="1400" b="0" i="0" dirty="0">
              <a:solidFill>
                <a:srgbClr val="000000"/>
              </a:solidFill>
              <a:effectLst/>
              <a:latin typeface="+mn-lt"/>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040949"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Bivariate Analysis Graphs:</a:t>
            </a:r>
            <a:endParaRPr lang="en-US" sz="3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9F23720-F5A8-6ACB-3B28-A907E6834132}"/>
              </a:ext>
            </a:extLst>
          </p:cNvPr>
          <p:cNvPicPr>
            <a:picLocks noChangeAspect="1"/>
          </p:cNvPicPr>
          <p:nvPr/>
        </p:nvPicPr>
        <p:blipFill rotWithShape="1">
          <a:blip r:embed="rId2"/>
          <a:srcRect t="1431"/>
          <a:stretch/>
        </p:blipFill>
        <p:spPr>
          <a:xfrm>
            <a:off x="574765" y="1801298"/>
            <a:ext cx="11042469" cy="4102811"/>
          </a:xfrm>
          <a:prstGeom prst="rect">
            <a:avLst/>
          </a:prstGeom>
        </p:spPr>
      </p:pic>
    </p:spTree>
    <p:extLst>
      <p:ext uri="{BB962C8B-B14F-4D97-AF65-F5344CB8AC3E}">
        <p14:creationId xmlns:p14="http://schemas.microsoft.com/office/powerpoint/2010/main" val="219018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489579"/>
          </a:xfrm>
        </p:spPr>
        <p:txBody>
          <a:bodyPr>
            <a:noAutofit/>
          </a:bodyPr>
          <a:lstStyle/>
          <a:p>
            <a:r>
              <a:rPr lang="en-US" sz="1400" b="1" i="0" dirty="0">
                <a:solidFill>
                  <a:srgbClr val="000000"/>
                </a:solidFill>
                <a:effectLst/>
                <a:latin typeface="+mn-lt"/>
              </a:rPr>
              <a:t>4. Analysis on 'FLAG_OWN_CAR' column and 'CODE_GENDER' column using data frame target_0 and target_1.</a:t>
            </a:r>
            <a:br>
              <a:rPr lang="en-US" sz="1400" b="0" i="0" dirty="0">
                <a:solidFill>
                  <a:srgbClr val="000000"/>
                </a:solidFill>
                <a:effectLst/>
                <a:latin typeface="+mn-lt"/>
              </a:rPr>
            </a:br>
            <a:r>
              <a:rPr lang="en-US" sz="1400" b="1" i="0" dirty="0">
                <a:solidFill>
                  <a:srgbClr val="000000"/>
                </a:solidFill>
                <a:effectLst/>
                <a:latin typeface="+mn-lt"/>
              </a:rPr>
              <a:t>Findings:</a:t>
            </a:r>
            <a:r>
              <a:rPr lang="en-US" sz="1400" b="0" i="0" dirty="0">
                <a:solidFill>
                  <a:srgbClr val="000000"/>
                </a:solidFill>
                <a:effectLst/>
                <a:latin typeface="+mn-lt"/>
              </a:rPr>
              <a:t> Based on the given plot, we can observe that </a:t>
            </a:r>
            <a:r>
              <a:rPr lang="en-US" sz="1400" dirty="0">
                <a:solidFill>
                  <a:srgbClr val="000000"/>
                </a:solidFill>
                <a:latin typeface="+mn-lt"/>
              </a:rPr>
              <a:t>females who owns a car are more likely to be a defaulter.</a:t>
            </a:r>
            <a:endParaRPr lang="en-US" sz="1400" b="0" i="0" dirty="0">
              <a:solidFill>
                <a:srgbClr val="000000"/>
              </a:solidFill>
              <a:effectLst/>
              <a:latin typeface="+mn-lt"/>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6040949"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Bivariate Analysis Graphs:</a:t>
            </a:r>
            <a:endParaRPr lang="en-US" sz="3600" b="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00171AE-DBCC-DE77-BF73-BA066B412070}"/>
              </a:ext>
            </a:extLst>
          </p:cNvPr>
          <p:cNvPicPr>
            <a:picLocks noChangeAspect="1"/>
          </p:cNvPicPr>
          <p:nvPr/>
        </p:nvPicPr>
        <p:blipFill>
          <a:blip r:embed="rId2"/>
          <a:stretch>
            <a:fillRect/>
          </a:stretch>
        </p:blipFill>
        <p:spPr>
          <a:xfrm>
            <a:off x="513806" y="1567543"/>
            <a:ext cx="10363200" cy="4448175"/>
          </a:xfrm>
          <a:prstGeom prst="rect">
            <a:avLst/>
          </a:prstGeom>
        </p:spPr>
      </p:pic>
    </p:spTree>
    <p:extLst>
      <p:ext uri="{BB962C8B-B14F-4D97-AF65-F5344CB8AC3E}">
        <p14:creationId xmlns:p14="http://schemas.microsoft.com/office/powerpoint/2010/main" val="1880734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931534"/>
          </a:xfrm>
        </p:spPr>
        <p:txBody>
          <a:bodyPr>
            <a:noAutofit/>
          </a:bodyPr>
          <a:lstStyle/>
          <a:p>
            <a:pPr algn="l"/>
            <a:r>
              <a:rPr lang="en-US" sz="1400" b="0" i="0" dirty="0">
                <a:solidFill>
                  <a:srgbClr val="000000"/>
                </a:solidFill>
                <a:effectLst/>
                <a:latin typeface="Helvetica Neue"/>
              </a:rPr>
              <a:t>Based on the given plot, we can observe that most loan applications are approved, as indicated by the large portion of the pie chart labeled "Approved". Conversely, a small number of loan applications are either canceled or refused, as indicated by the smaller portions of the pie chart labeled "Canceled" and "Refused", respectively. Additionally, the portion of the pie chart labeled "Unused Offer" is also relatively small, indicating that few loan offers were unused by clients</a:t>
            </a:r>
            <a:endParaRPr lang="en-US" sz="2400" b="0" i="0" dirty="0">
              <a:solidFill>
                <a:srgbClr val="000000"/>
              </a:solidFill>
              <a:effectLst/>
              <a:latin typeface="Helvetica Neue"/>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8092793"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Merged Univariate Analysis Graphs:</a:t>
            </a:r>
            <a:endParaRPr lang="en-US" sz="36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2167E28-ADC4-A109-3349-154B1A744787}"/>
              </a:ext>
            </a:extLst>
          </p:cNvPr>
          <p:cNvPicPr>
            <a:picLocks noChangeAspect="1"/>
          </p:cNvPicPr>
          <p:nvPr/>
        </p:nvPicPr>
        <p:blipFill>
          <a:blip r:embed="rId2"/>
          <a:stretch>
            <a:fillRect/>
          </a:stretch>
        </p:blipFill>
        <p:spPr>
          <a:xfrm>
            <a:off x="494020" y="2292707"/>
            <a:ext cx="4450025" cy="3150516"/>
          </a:xfrm>
          <a:prstGeom prst="rect">
            <a:avLst/>
          </a:prstGeom>
        </p:spPr>
      </p:pic>
      <p:pic>
        <p:nvPicPr>
          <p:cNvPr id="9" name="Picture 8">
            <a:extLst>
              <a:ext uri="{FF2B5EF4-FFF2-40B4-BE49-F238E27FC236}">
                <a16:creationId xmlns:a16="http://schemas.microsoft.com/office/drawing/2014/main" id="{BA503521-97AD-CBB3-680E-4585F5157561}"/>
              </a:ext>
            </a:extLst>
          </p:cNvPr>
          <p:cNvPicPr>
            <a:picLocks noChangeAspect="1"/>
          </p:cNvPicPr>
          <p:nvPr/>
        </p:nvPicPr>
        <p:blipFill>
          <a:blip r:embed="rId3"/>
          <a:stretch>
            <a:fillRect/>
          </a:stretch>
        </p:blipFill>
        <p:spPr>
          <a:xfrm>
            <a:off x="4795320" y="2351469"/>
            <a:ext cx="6562491" cy="2925926"/>
          </a:xfrm>
          <a:prstGeom prst="rect">
            <a:avLst/>
          </a:prstGeom>
        </p:spPr>
      </p:pic>
    </p:spTree>
    <p:extLst>
      <p:ext uri="{BB962C8B-B14F-4D97-AF65-F5344CB8AC3E}">
        <p14:creationId xmlns:p14="http://schemas.microsoft.com/office/powerpoint/2010/main" val="1390506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7095" y="1074819"/>
            <a:ext cx="10940716" cy="4430372"/>
          </a:xfrm>
        </p:spPr>
        <p:txBody>
          <a:bodyPr>
            <a:noAutofit/>
          </a:bodyPr>
          <a:lstStyle/>
          <a:p>
            <a:br>
              <a:rPr lang="en-US" sz="2000" b="0" i="0" dirty="0">
                <a:solidFill>
                  <a:srgbClr val="000000"/>
                </a:solidFill>
                <a:effectLst/>
                <a:latin typeface="Helvetica Neue"/>
              </a:rPr>
            </a:br>
            <a:r>
              <a:rPr lang="en-US" sz="2000" b="0" i="0" dirty="0">
                <a:solidFill>
                  <a:srgbClr val="000000"/>
                </a:solidFill>
                <a:effectLst/>
                <a:latin typeface="Helvetica Neue"/>
              </a:rPr>
              <a:t>1. </a:t>
            </a:r>
            <a:r>
              <a:rPr lang="en-US" sz="2000" dirty="0">
                <a:solidFill>
                  <a:srgbClr val="000000"/>
                </a:solidFill>
                <a:latin typeface="Helvetica Neue"/>
              </a:rPr>
              <a:t>One effective way for a company to attract more clients is by investing in the infrastructure of        its credit and cash offices. These offices are proven to be highly efficient in acquiring new clients and increasing overall business revenue. By enhancing the facilities and equipment of these offices, the company can create a welcoming and professional environment that fosters trust and confidence in potential clients. This can lead to an increase in customer loyalty and positive word-of-mouth recommendations. Overall, prioritizing the infrastructure of credit and cash offices can have a significant impact on the success of a business</a:t>
            </a:r>
            <a:br>
              <a:rPr lang="en-US" sz="2000" dirty="0">
                <a:solidFill>
                  <a:srgbClr val="000000"/>
                </a:solidFill>
                <a:latin typeface="Helvetica Neue"/>
              </a:rPr>
            </a:br>
            <a:r>
              <a:rPr lang="en-US" sz="2000" dirty="0">
                <a:solidFill>
                  <a:srgbClr val="000000"/>
                </a:solidFill>
                <a:latin typeface="Helvetica Neue"/>
              </a:rPr>
              <a:t>2.  There are more chances of women who owns a car and owns a house or apartment to be a        defaulter of loan.</a:t>
            </a:r>
            <a:br>
              <a:rPr lang="en-US" sz="2000" dirty="0">
                <a:solidFill>
                  <a:srgbClr val="000000"/>
                </a:solidFill>
                <a:latin typeface="Helvetica Neue"/>
              </a:rPr>
            </a:br>
            <a:r>
              <a:rPr lang="en-US" sz="2000" dirty="0">
                <a:solidFill>
                  <a:srgbClr val="000000"/>
                </a:solidFill>
                <a:latin typeface="Helvetica Neue"/>
              </a:rPr>
              <a:t>3.  It is less likely that clients in the age group less than 30 would be able to pay off their debt.</a:t>
            </a:r>
            <a:br>
              <a:rPr lang="en-US" sz="2000" dirty="0">
                <a:solidFill>
                  <a:srgbClr val="000000"/>
                </a:solidFill>
                <a:latin typeface="Helvetica Neue"/>
              </a:rPr>
            </a:br>
            <a:r>
              <a:rPr lang="en-US" sz="2000" dirty="0">
                <a:solidFill>
                  <a:srgbClr val="000000"/>
                </a:solidFill>
                <a:latin typeface="Helvetica Neue"/>
              </a:rPr>
              <a:t>4.  The clients whose salary range is less than 2 lakhs are more likely to be a defaulter</a:t>
            </a:r>
            <a:r>
              <a:rPr lang="en-US" sz="1600" dirty="0">
                <a:solidFill>
                  <a:srgbClr val="000000"/>
                </a:solidFill>
                <a:latin typeface="Helvetica Neue"/>
              </a:rPr>
              <a:t>.</a:t>
            </a:r>
            <a:br>
              <a:rPr lang="en-US" sz="1600" dirty="0">
                <a:solidFill>
                  <a:srgbClr val="000000"/>
                </a:solidFill>
                <a:latin typeface="Helvetica Neue"/>
              </a:rPr>
            </a:br>
            <a:r>
              <a:rPr lang="en-US" sz="2000" dirty="0">
                <a:solidFill>
                  <a:srgbClr val="000000"/>
                </a:solidFill>
                <a:latin typeface="Helvetica Neue"/>
              </a:rPr>
              <a:t>5.  Clients from housing type ‘With parents’ are having least number of unsuccessful payments.</a:t>
            </a:r>
            <a:br>
              <a:rPr lang="en-US" sz="1100" b="0" i="0" dirty="0">
                <a:effectLst/>
                <a:latin typeface="-apple-system"/>
              </a:rPr>
            </a:br>
            <a:br>
              <a:rPr lang="en-US" sz="1800" b="0" i="0" u="none" strike="noStrike" baseline="0" dirty="0">
                <a:solidFill>
                  <a:srgbClr val="000000"/>
                </a:solidFill>
                <a:latin typeface="Calibri" panose="020F0502020204030204" pitchFamily="34" charset="0"/>
              </a:rPr>
            </a:br>
            <a:endParaRPr lang="en-US" sz="1600" dirty="0">
              <a:solidFill>
                <a:srgbClr val="000000"/>
              </a:solidFill>
              <a:latin typeface="Helvetica Neue"/>
            </a:endParaRPr>
          </a:p>
        </p:txBody>
      </p:sp>
      <p:cxnSp>
        <p:nvCxnSpPr>
          <p:cNvPr id="4" name="Straight Connector 3"/>
          <p:cNvCxnSpPr/>
          <p:nvPr/>
        </p:nvCxnSpPr>
        <p:spPr>
          <a:xfrm flipV="1">
            <a:off x="417095" y="1042737"/>
            <a:ext cx="10940716" cy="16042"/>
          </a:xfrm>
          <a:prstGeom prst="line">
            <a:avLst/>
          </a:prstGeom>
        </p:spPr>
        <p:style>
          <a:lnRef idx="3">
            <a:schemeClr val="accent6"/>
          </a:lnRef>
          <a:fillRef idx="0">
            <a:schemeClr val="accent6"/>
          </a:fillRef>
          <a:effectRef idx="2">
            <a:schemeClr val="accent6"/>
          </a:effectRef>
          <a:fontRef idx="minor">
            <a:schemeClr val="tx1"/>
          </a:fontRef>
        </p:style>
      </p:cxnSp>
      <p:sp>
        <p:nvSpPr>
          <p:cNvPr id="5" name="TextBox 4">
            <a:extLst>
              <a:ext uri="{FF2B5EF4-FFF2-40B4-BE49-F238E27FC236}">
                <a16:creationId xmlns:a16="http://schemas.microsoft.com/office/drawing/2014/main" id="{578E57F5-0BF8-9729-E748-A49C4990C105}"/>
              </a:ext>
            </a:extLst>
          </p:cNvPr>
          <p:cNvSpPr txBox="1"/>
          <p:nvPr/>
        </p:nvSpPr>
        <p:spPr>
          <a:xfrm>
            <a:off x="417095" y="409303"/>
            <a:ext cx="4467890" cy="646331"/>
          </a:xfrm>
          <a:prstGeom prst="rect">
            <a:avLst/>
          </a:prstGeom>
          <a:noFill/>
        </p:spPr>
        <p:txBody>
          <a:bodyPr wrap="none" rtlCol="0">
            <a:spAutoFit/>
          </a:bodyPr>
          <a:lstStyle/>
          <a:p>
            <a:r>
              <a:rPr lang="en-US" sz="3600" b="1" dirty="0">
                <a:solidFill>
                  <a:schemeClr val="accent1">
                    <a:lumMod val="50000"/>
                  </a:schemeClr>
                </a:solidFill>
                <a:latin typeface="Arial" panose="020B0604020202020204" pitchFamily="34" charset="0"/>
                <a:cs typeface="Arial" panose="020B0604020202020204" pitchFamily="34" charset="0"/>
              </a:rPr>
              <a:t>Recommendations:</a:t>
            </a:r>
            <a:endParaRPr lang="en-US"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5776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3"/>
          <p:cNvSpPr>
            <a:spLocks noGrp="1"/>
          </p:cNvSpPr>
          <p:nvPr>
            <p:ph type="body" idx="1"/>
          </p:nvPr>
        </p:nvSpPr>
        <p:spPr>
          <a:xfrm>
            <a:off x="1752601" y="3276600"/>
            <a:ext cx="8458201" cy="1295400"/>
          </a:xfrm>
        </p:spPr>
        <p:txBody>
          <a:bodyPr>
            <a:normAutofit/>
          </a:bodyPr>
          <a:lstStyle/>
          <a:p>
            <a:pPr algn="ctr" fontAlgn="base">
              <a:spcAft>
                <a:spcPct val="0"/>
              </a:spcAft>
              <a:buFont typeface="Arial" pitchFamily="34" charset="0"/>
              <a:buNone/>
            </a:pPr>
            <a:r>
              <a:rPr lang="en-US" altLang="zh-CN" sz="6000" dirty="0">
                <a:latin typeface="+mn-lt"/>
                <a:ea typeface="方正兰亭纤黑简体"/>
                <a:cs typeface="方正兰亭纤黑简体"/>
              </a:rPr>
              <a:t>Thank </a:t>
            </a:r>
            <a:r>
              <a:rPr lang="en-US" altLang="zh-CN" sz="6000" dirty="0">
                <a:latin typeface="+mn-lt"/>
                <a:ea typeface="方正兰亭纤黑简体"/>
              </a:rPr>
              <a:t>You !</a:t>
            </a:r>
          </a:p>
        </p:txBody>
      </p:sp>
    </p:spTree>
    <p:extLst>
      <p:ext uri="{BB962C8B-B14F-4D97-AF65-F5344CB8AC3E}">
        <p14:creationId xmlns:p14="http://schemas.microsoft.com/office/powerpoint/2010/main" val="826049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TotalTime>
  <Words>2091</Words>
  <Application>Microsoft Office PowerPoint</Application>
  <PresentationFormat>Widescreen</PresentationFormat>
  <Paragraphs>32</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-apple-system</vt:lpstr>
      <vt:lpstr>Helvetica Neue</vt:lpstr>
      <vt:lpstr>Myriad Pro</vt:lpstr>
      <vt:lpstr>Söhne</vt:lpstr>
      <vt:lpstr>方正兰亭纤黑简体</vt:lpstr>
      <vt:lpstr>Arial</vt:lpstr>
      <vt:lpstr>Calibri</vt:lpstr>
      <vt:lpstr>Calibri Light</vt:lpstr>
      <vt:lpstr>Office Theme</vt:lpstr>
      <vt:lpstr>PowerPoint Presentation</vt:lpstr>
      <vt:lpstr> * Purpose of Case - Study * Data Cleaning and Data Manipulation * Univariate Analysis * Bivariate Analysis * Merger Univariate Analysis </vt:lpstr>
      <vt:lpstr> The objective of this case study is to analyze patterns in the loan application data to identify clients who may have difficulty paying their instalments.   This analysis will help in making informed decisions such as denying the loan, reducing the loan amount, or offering a higher interest rate to risky applicants.   By identifying such applicants through exploratory data analysis (EDA), the loan providers can ensure that applications from clients who can repay their loans are not rejected.</vt:lpstr>
      <vt:lpstr> •First, we imported python libraries which are NumPy, pandas, seaborn and  matplotlib. •After this, we read the given csv into 2 different data frame ‘inp0’ and ‘inp1’ using the pandas “pd.read_csv” function. •Then we found the percentage of null values present in each column of the data. •We dropped the columns with null value percentage more than 45% and the columns which were irrelevant for our analysis. • For columns with missing values that are less than 45 to 50%, the following strategies were used:  1. For numerical columns with no significant outliers, missing values can be imputed with  the mean or median of the column. If the data is normally distributed, the mean can be  used, while the median can be used for skewed data.  2. For numerical columns with significant outliers, the median should be used for  imputing missing  values as it is more robust to outliers than the mean.  3. For categorical columns, missing values can be imputed with the mode (most frequent  value) of the column. </vt:lpstr>
      <vt:lpstr>• We corrected the values in the columns "DAYS_BIRTH", "DAYS_REGISTRATION", and "DAYS_ID_PUBLISH" by converting their negative values to positive values. These columns represent the number of days before the loan application when the client was born, registered, and their ID was published respectively. •To facilitate a better analysis, we converted the values in the columns "AMT_INCOME_TOTAL", "AMT_CREDIT", and "AMT_GOODS_PRICE" from their original units to units of lakhs. This conversion helps to simplify the values and makes it easier to identify patterns and trends in the data. • Additionally, we performed binning on two columns: "AMT_INCOME_TOTAL" and "DAYS_BIRTH". Binning involves grouping values into intervals or ranges and is a common technique used in data analysis to simplify the data and identify patterns. By binning the "AMT_INCOME_TOTAL" column, we can analyze the distribution of income levels and identify any patterns or trends that may exist within specific income ranges. Similarly, by binning the "DAYS_BIRTH" column, we can group clients into age ranges and analyze how age is related to loan repayment.  •Then we checked the imbalance application data frame using target variable.       </vt:lpstr>
      <vt:lpstr>• Two new data frames were created based on the target value. One data frame (target_0) contained all the rows where the target value was 0, indicating that the loan was not defaulted. The other data frame (target_1) contained all the rows where the target value was 1, indicating that the loan was defaulted.  • After creating separate data frames for the two target values (target_0 and target_1), we performed univariate analysis on several columns including "salary range", "age_group", "FLAG_OWN_CAR", "FLAG_OWN_REALTY", "CNT_CHILDREN", and "NAME_HOUSE_TYPE".  • Following this, I conducted bivariate analysis to explore the relationships between the target variable and several other variables of interest. Specifically, examined the associations between the target variable and the following columns: "age_group", "AMT_INCOME_TOTAL", "AMT_GOODS_PRICE", "CODE_GENDER", "NAME_HOUSING_TYPE", and "FLAG_OWN_CAR". This analysis helped to identify patterns and relationships that may be indicative of a client's ability to repay loans. •We found correlation for data frames inp0, target_0 and target_1. •After this, we merged the data frame inp0 and inp1 using pd.merge() function. These two data frame was merged into a new data frame which we named merged. •Again, data cleaning was applied to this new data frame and then univariate and bivariate analysis was done on this data frame. </vt:lpstr>
      <vt:lpstr>1. Sub-plot of count-plot type for variable "salary_range" form data frame target_0 and target_1 Findings: Based on the given plot, we can observe that many clients who have defaulted on their loans fall in the salary range of less than 2 lakhs. Conversely, there are very few clients who have defaulted in the salary range of above 10 lakhs. This suggests that clients with lower salaries are more likely to default on their loans compared to those with higher salaries. </vt:lpstr>
      <vt:lpstr>2. Sub-plot of count-plot type for variable "age_group" form data frame target_0 and target_1. Findings : Based on the given plot, we can observe that there is a relatively higher number of clients who have defaulted on their loans in the age group of 30 to 40. On the other hand, there are very few clients who have defaulted in the age group of above 60. This indicates that clients who are in the age range of 30 to 40 are more likely to default on their loans compared to those who are above 60 years old. </vt:lpstr>
      <vt:lpstr>3. Sub-plot of count-plot type for variable "FLAG_OWN_CAR" form data frame target_0 and target_1. 4. Sub-plot of count-plot type for variable "FLAG_OWN_REALTY" form data frame target_0 and target_1. Findings: Based on the given plot, it is evident that a significant number of clients who have defaulted on their loans do not own a car. This suggests that clients who do not own a car are more likely to default on their loans compared to those who do own a car. Also, we can say that there are high number of DEFAULTER clients who owns a house. </vt:lpstr>
      <vt:lpstr>5. sub-plot of count-plot type for variable "CNT_CHILDREN" and “NAME_HOUSING_TYPE” form data frame target_0 and target_1. Findings: Based on the given plot, we can conclude that a considerable number of clients who have defaulted on their loans do not have any children. This suggests that clients without children are more likely to default on their loans compared to those who have children. Also, we can infer that a substantial number of clients who have defaulted on their loans live in their own house or apartment. This suggests that clients who own their own house or apartment are more likely to default on their loans compared to those who live in rented accommodations.</vt:lpstr>
      <vt:lpstr>1. Analysis on 'age_group' column and 'AMT_INCOME_TOTAL' column using data frame target_0 and target_1. Findings: Based on the given plot, we can observe that clients who have defaulted on their loans in the age group of 30-40 generally have higher incomes compared to clients in other age groups. On the other hand, clients who have defaulted in the age group less than 30 have lower incomes compared to the other age groups. Given this information, it is less likely that clients in the age group less than 30 would be able to pay off their debt.</vt:lpstr>
      <vt:lpstr>2. Analysis on ‘CODE_GENDER’ column and ‘AMT_GOODS_PRICE’ column using data frame target_0 and target_1. Findings: Based on the given plot, we can observe that male clients who have defaulted on their loans generally have a lower AMT_GOODS_PRICE value, with the majority falling below 22.5 lakhs. Conversely, female clients who have defaulted on their loans generally have a slightly higher AMT_GOODS_PRICE value, with the majority falling below 25 lakhs.</vt:lpstr>
      <vt:lpstr>3. Analysis on 'NAME_HOUSING_TYPE' column and 'CODE_GENDER' column using data frame target_0 and target_1. Findings: Based on the given plot, we can observe that females who owns a house or apartment are more likely to be a defaulter, but the other factors seems to be normal for both the genders.</vt:lpstr>
      <vt:lpstr>4. Analysis on 'FLAG_OWN_CAR' column and 'CODE_GENDER' column using data frame target_0 and target_1. Findings: Based on the given plot, we can observe that females who owns a car are more likely to be a defaulter.</vt:lpstr>
      <vt:lpstr>Based on the given plot, we can observe that most loan applications are approved, as indicated by the large portion of the pie chart labeled "Approved". Conversely, a small number of loan applications are either canceled or refused, as indicated by the smaller portions of the pie chart labeled "Canceled" and "Refused", respectively. Additionally, the portion of the pie chart labeled "Unused Offer" is also relatively small, indicating that few loan offers were unused by clients</vt:lpstr>
      <vt:lpstr> 1. One effective way for a company to attract more clients is by investing in the infrastructure of        its credit and cash offices. These offices are proven to be highly efficient in acquiring new clients and increasing overall business revenue. By enhancing the facilities and equipment of these offices, the company can create a welcoming and professional environment that fosters trust and confidence in potential clients. This can lead to an increase in customer loyalty and positive word-of-mouth recommendations. Overall, prioritizing the infrastructure of credit and cash offices can have a significant impact on the success of a business 2.  There are more chances of women who owns a car and owns a house or apartment to be a        defaulter of loan. 3.  It is less likely that clients in the age group less than 30 would be able to pay off their debt. 4.  The clients whose salary range is less than 2 lakhs are more likely to be a defaulter. 5.  Clients from housing type ‘With parents’ are having least number of unsuccessful payments.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IN005148</dc:creator>
  <cp:lastModifiedBy>SHIVAM KUMAR JAISWAL(Shivam)</cp:lastModifiedBy>
  <cp:revision>34</cp:revision>
  <dcterms:created xsi:type="dcterms:W3CDTF">2018-07-21T11:59:09Z</dcterms:created>
  <dcterms:modified xsi:type="dcterms:W3CDTF">2023-04-25T14:36:09Z</dcterms:modified>
</cp:coreProperties>
</file>